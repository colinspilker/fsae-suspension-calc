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442" r:id="rId5"/>
    <p:sldId id="256" r:id="rId6"/>
    <p:sldId id="440" r:id="rId7"/>
    <p:sldId id="441" r:id="rId8"/>
    <p:sldId id="430" r:id="rId9"/>
    <p:sldId id="439" r:id="rId10"/>
    <p:sldId id="431" r:id="rId11"/>
    <p:sldId id="436" r:id="rId12"/>
    <p:sldId id="437" r:id="rId13"/>
    <p:sldId id="443" r:id="rId14"/>
    <p:sldId id="438" r:id="rId15"/>
    <p:sldId id="258" r:id="rId16"/>
    <p:sldId id="259" r:id="rId17"/>
    <p:sldId id="260" r:id="rId18"/>
    <p:sldId id="257" r:id="rId19"/>
    <p:sldId id="261" r:id="rId20"/>
    <p:sldId id="262" r:id="rId21"/>
    <p:sldId id="35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908593-D6B7-4D16-BB7F-2770E11A49E4}" v="153" dt="2026-05-10T06:58:39.4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18" y="9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pilker, Colin" userId="0c894e6e-d246-4602-90e9-391b64b2ccc7" providerId="ADAL" clId="{11E40075-824D-461D-BBED-6B38AC4D9472}"/>
    <pc:docChg chg="undo custSel addSld delSld modSld sldOrd">
      <pc:chgData name="Spilker, Colin" userId="0c894e6e-d246-4602-90e9-391b64b2ccc7" providerId="ADAL" clId="{11E40075-824D-461D-BBED-6B38AC4D9472}" dt="2026-05-10T06:58:39.473" v="1740" actId="14100"/>
      <pc:docMkLst>
        <pc:docMk/>
      </pc:docMkLst>
      <pc:sldChg chg="addSp delSp modSp mod">
        <pc:chgData name="Spilker, Colin" userId="0c894e6e-d246-4602-90e9-391b64b2ccc7" providerId="ADAL" clId="{11E40075-824D-461D-BBED-6B38AC4D9472}" dt="2026-05-05T22:04:47.671" v="1622" actId="20577"/>
        <pc:sldMkLst>
          <pc:docMk/>
          <pc:sldMk cId="3878133911" sldId="256"/>
        </pc:sldMkLst>
        <pc:spChg chg="add mod">
          <ac:chgData name="Spilker, Colin" userId="0c894e6e-d246-4602-90e9-391b64b2ccc7" providerId="ADAL" clId="{11E40075-824D-461D-BBED-6B38AC4D9472}" dt="2026-05-05T22:04:47.671" v="1622" actId="20577"/>
          <ac:spMkLst>
            <pc:docMk/>
            <pc:sldMk cId="3878133911" sldId="256"/>
            <ac:spMk id="2" creationId="{9EE848A4-BF3A-E361-BEEF-AA1AA8C06A5F}"/>
          </ac:spMkLst>
        </pc:spChg>
        <pc:spChg chg="add mod">
          <ac:chgData name="Spilker, Colin" userId="0c894e6e-d246-4602-90e9-391b64b2ccc7" providerId="ADAL" clId="{11E40075-824D-461D-BBED-6B38AC4D9472}" dt="2026-04-28T21:17:32.081" v="225" actId="1076"/>
          <ac:spMkLst>
            <pc:docMk/>
            <pc:sldMk cId="3878133911" sldId="256"/>
            <ac:spMk id="3" creationId="{F5F7CEC0-6368-65AC-CE1E-389AA047DFC9}"/>
          </ac:spMkLst>
        </pc:spChg>
        <pc:spChg chg="add mod">
          <ac:chgData name="Spilker, Colin" userId="0c894e6e-d246-4602-90e9-391b64b2ccc7" providerId="ADAL" clId="{11E40075-824D-461D-BBED-6B38AC4D9472}" dt="2026-04-28T21:17:35.128" v="226" actId="1076"/>
          <ac:spMkLst>
            <pc:docMk/>
            <pc:sldMk cId="3878133911" sldId="256"/>
            <ac:spMk id="6" creationId="{5FA21E5B-66D8-0507-264F-4994CB96B981}"/>
          </ac:spMkLst>
        </pc:spChg>
        <pc:picChg chg="mod">
          <ac:chgData name="Spilker, Colin" userId="0c894e6e-d246-4602-90e9-391b64b2ccc7" providerId="ADAL" clId="{11E40075-824D-461D-BBED-6B38AC4D9472}" dt="2026-04-29T17:29:47.558" v="231" actId="1076"/>
          <ac:picMkLst>
            <pc:docMk/>
            <pc:sldMk cId="3878133911" sldId="256"/>
            <ac:picMk id="5" creationId="{F4936A59-9443-3B1A-01B5-5D8BB7206DA6}"/>
          </ac:picMkLst>
        </pc:picChg>
      </pc:sldChg>
      <pc:sldChg chg="modSp mod">
        <pc:chgData name="Spilker, Colin" userId="0c894e6e-d246-4602-90e9-391b64b2ccc7" providerId="ADAL" clId="{11E40075-824D-461D-BBED-6B38AC4D9472}" dt="2026-05-10T06:58:39.473" v="1740" actId="14100"/>
        <pc:sldMkLst>
          <pc:docMk/>
          <pc:sldMk cId="3184556445" sldId="257"/>
        </pc:sldMkLst>
        <pc:spChg chg="mod">
          <ac:chgData name="Spilker, Colin" userId="0c894e6e-d246-4602-90e9-391b64b2ccc7" providerId="ADAL" clId="{11E40075-824D-461D-BBED-6B38AC4D9472}" dt="2026-05-01T15:25:18.709" v="1585" actId="20577"/>
          <ac:spMkLst>
            <pc:docMk/>
            <pc:sldMk cId="3184556445" sldId="257"/>
            <ac:spMk id="30" creationId="{41949410-4E47-3143-A386-5E603DFD2DD4}"/>
          </ac:spMkLst>
        </pc:spChg>
        <pc:picChg chg="mod modCrop">
          <ac:chgData name="Spilker, Colin" userId="0c894e6e-d246-4602-90e9-391b64b2ccc7" providerId="ADAL" clId="{11E40075-824D-461D-BBED-6B38AC4D9472}" dt="2026-05-10T06:58:34.141" v="1738" actId="1076"/>
          <ac:picMkLst>
            <pc:docMk/>
            <pc:sldMk cId="3184556445" sldId="257"/>
            <ac:picMk id="47" creationId="{D34C3A50-0640-B5B3-920C-552B9D23ECD8}"/>
          </ac:picMkLst>
        </pc:picChg>
        <pc:picChg chg="mod modCrop">
          <ac:chgData name="Spilker, Colin" userId="0c894e6e-d246-4602-90e9-391b64b2ccc7" providerId="ADAL" clId="{11E40075-824D-461D-BBED-6B38AC4D9472}" dt="2026-05-10T06:58:39.473" v="1740" actId="14100"/>
          <ac:picMkLst>
            <pc:docMk/>
            <pc:sldMk cId="3184556445" sldId="257"/>
            <ac:picMk id="49" creationId="{E790FF28-F294-AF3B-69FB-2A84B98C3606}"/>
          </ac:picMkLst>
        </pc:picChg>
        <pc:picChg chg="mod modCrop">
          <ac:chgData name="Spilker, Colin" userId="0c894e6e-d246-4602-90e9-391b64b2ccc7" providerId="ADAL" clId="{11E40075-824D-461D-BBED-6B38AC4D9472}" dt="2026-05-10T06:58:35.322" v="1739" actId="1076"/>
          <ac:picMkLst>
            <pc:docMk/>
            <pc:sldMk cId="3184556445" sldId="257"/>
            <ac:picMk id="51" creationId="{7EAB47E9-4841-B384-43A2-914BEBBF82D4}"/>
          </ac:picMkLst>
        </pc:picChg>
        <pc:picChg chg="mod modCrop">
          <ac:chgData name="Spilker, Colin" userId="0c894e6e-d246-4602-90e9-391b64b2ccc7" providerId="ADAL" clId="{11E40075-824D-461D-BBED-6B38AC4D9472}" dt="2026-05-01T15:24:24.637" v="1570" actId="732"/>
          <ac:picMkLst>
            <pc:docMk/>
            <pc:sldMk cId="3184556445" sldId="257"/>
            <ac:picMk id="53" creationId="{D0201B5C-2C55-41BE-45AA-2FCB9C65C0C5}"/>
          </ac:picMkLst>
        </pc:picChg>
        <pc:picChg chg="mod">
          <ac:chgData name="Spilker, Colin" userId="0c894e6e-d246-4602-90e9-391b64b2ccc7" providerId="ADAL" clId="{11E40075-824D-461D-BBED-6B38AC4D9472}" dt="2026-05-01T15:25:08.167" v="1577" actId="1036"/>
          <ac:picMkLst>
            <pc:docMk/>
            <pc:sldMk cId="3184556445" sldId="257"/>
            <ac:picMk id="55" creationId="{E4B37308-1C48-404C-47A5-B3811AAB85AA}"/>
          </ac:picMkLst>
        </pc:picChg>
      </pc:sldChg>
      <pc:sldChg chg="addSp delSp modSp mod">
        <pc:chgData name="Spilker, Colin" userId="0c894e6e-d246-4602-90e9-391b64b2ccc7" providerId="ADAL" clId="{11E40075-824D-461D-BBED-6B38AC4D9472}" dt="2026-04-29T18:54:49.537" v="1543" actId="20577"/>
        <pc:sldMkLst>
          <pc:docMk/>
          <pc:sldMk cId="1492123437" sldId="258"/>
        </pc:sldMkLst>
        <pc:spChg chg="mod">
          <ac:chgData name="Spilker, Colin" userId="0c894e6e-d246-4602-90e9-391b64b2ccc7" providerId="ADAL" clId="{11E40075-824D-461D-BBED-6B38AC4D9472}" dt="2026-04-29T18:54:49.537" v="1543" actId="20577"/>
          <ac:spMkLst>
            <pc:docMk/>
            <pc:sldMk cId="1492123437" sldId="258"/>
            <ac:spMk id="19" creationId="{0B17A313-DAA5-AD57-3D3D-62B763127C72}"/>
          </ac:spMkLst>
        </pc:spChg>
        <pc:spChg chg="add mod">
          <ac:chgData name="Spilker, Colin" userId="0c894e6e-d246-4602-90e9-391b64b2ccc7" providerId="ADAL" clId="{11E40075-824D-461D-BBED-6B38AC4D9472}" dt="2026-04-29T18:44:59.435" v="1108" actId="1076"/>
          <ac:spMkLst>
            <pc:docMk/>
            <pc:sldMk cId="1492123437" sldId="258"/>
            <ac:spMk id="27" creationId="{E1124094-4F1D-346E-2B23-E1947CA15ECF}"/>
          </ac:spMkLst>
        </pc:spChg>
        <pc:picChg chg="add mod">
          <ac:chgData name="Spilker, Colin" userId="0c894e6e-d246-4602-90e9-391b64b2ccc7" providerId="ADAL" clId="{11E40075-824D-461D-BBED-6B38AC4D9472}" dt="2026-04-29T18:44:44.480" v="1103" actId="1076"/>
          <ac:picMkLst>
            <pc:docMk/>
            <pc:sldMk cId="1492123437" sldId="258"/>
            <ac:picMk id="2" creationId="{183721FC-8137-03F2-0C77-B53945AAD78E}"/>
          </ac:picMkLst>
        </pc:picChg>
        <pc:picChg chg="add mod">
          <ac:chgData name="Spilker, Colin" userId="0c894e6e-d246-4602-90e9-391b64b2ccc7" providerId="ADAL" clId="{11E40075-824D-461D-BBED-6B38AC4D9472}" dt="2026-04-29T18:45:45.431" v="1113" actId="14100"/>
          <ac:picMkLst>
            <pc:docMk/>
            <pc:sldMk cId="1492123437" sldId="258"/>
            <ac:picMk id="4" creationId="{E3F12EA0-A527-D168-DD8F-0650128F185A}"/>
          </ac:picMkLst>
        </pc:picChg>
        <pc:picChg chg="add mod">
          <ac:chgData name="Spilker, Colin" userId="0c894e6e-d246-4602-90e9-391b64b2ccc7" providerId="ADAL" clId="{11E40075-824D-461D-BBED-6B38AC4D9472}" dt="2026-04-29T18:46:10.388" v="1120" actId="1076"/>
          <ac:picMkLst>
            <pc:docMk/>
            <pc:sldMk cId="1492123437" sldId="258"/>
            <ac:picMk id="6" creationId="{8095CBCD-EE97-E409-58AB-9B30ECB55F0F}"/>
          </ac:picMkLst>
        </pc:picChg>
        <pc:picChg chg="add mod">
          <ac:chgData name="Spilker, Colin" userId="0c894e6e-d246-4602-90e9-391b64b2ccc7" providerId="ADAL" clId="{11E40075-824D-461D-BBED-6B38AC4D9472}" dt="2026-04-29T18:46:35.034" v="1124" actId="1076"/>
          <ac:picMkLst>
            <pc:docMk/>
            <pc:sldMk cId="1492123437" sldId="258"/>
            <ac:picMk id="8" creationId="{F953D409-1E21-0FA6-013E-003EE84405FC}"/>
          </ac:picMkLst>
        </pc:picChg>
        <pc:picChg chg="add mod">
          <ac:chgData name="Spilker, Colin" userId="0c894e6e-d246-4602-90e9-391b64b2ccc7" providerId="ADAL" clId="{11E40075-824D-461D-BBED-6B38AC4D9472}" dt="2026-04-29T18:46:56.192" v="1128" actId="14100"/>
          <ac:picMkLst>
            <pc:docMk/>
            <pc:sldMk cId="1492123437" sldId="258"/>
            <ac:picMk id="10" creationId="{D6AF829C-9FDB-6131-872E-7C433AC8F6DF}"/>
          </ac:picMkLst>
        </pc:picChg>
      </pc:sldChg>
      <pc:sldChg chg="modSp mod">
        <pc:chgData name="Spilker, Colin" userId="0c894e6e-d246-4602-90e9-391b64b2ccc7" providerId="ADAL" clId="{11E40075-824D-461D-BBED-6B38AC4D9472}" dt="2026-05-10T06:00:33.658" v="1735" actId="732"/>
        <pc:sldMkLst>
          <pc:docMk/>
          <pc:sldMk cId="431385542" sldId="259"/>
        </pc:sldMkLst>
        <pc:picChg chg="mod modCrop">
          <ac:chgData name="Spilker, Colin" userId="0c894e6e-d246-4602-90e9-391b64b2ccc7" providerId="ADAL" clId="{11E40075-824D-461D-BBED-6B38AC4D9472}" dt="2026-05-10T06:00:33.658" v="1735" actId="732"/>
          <ac:picMkLst>
            <pc:docMk/>
            <pc:sldMk cId="431385542" sldId="259"/>
            <ac:picMk id="8" creationId="{6492614E-ACA6-5555-7D61-4E192F199BA8}"/>
          </ac:picMkLst>
        </pc:picChg>
      </pc:sldChg>
      <pc:sldChg chg="addSp delSp modSp mod">
        <pc:chgData name="Spilker, Colin" userId="0c894e6e-d246-4602-90e9-391b64b2ccc7" providerId="ADAL" clId="{11E40075-824D-461D-BBED-6B38AC4D9472}" dt="2026-05-05T22:12:03.007" v="1647" actId="1076"/>
        <pc:sldMkLst>
          <pc:docMk/>
          <pc:sldMk cId="2868045776" sldId="260"/>
        </pc:sldMkLst>
        <pc:picChg chg="add mod">
          <ac:chgData name="Spilker, Colin" userId="0c894e6e-d246-4602-90e9-391b64b2ccc7" providerId="ADAL" clId="{11E40075-824D-461D-BBED-6B38AC4D9472}" dt="2026-04-29T18:22:32.743" v="677" actId="1076"/>
          <ac:picMkLst>
            <pc:docMk/>
            <pc:sldMk cId="2868045776" sldId="260"/>
            <ac:picMk id="2" creationId="{37891CF0-3DAE-27FB-BF33-E0E364DDD16C}"/>
          </ac:picMkLst>
        </pc:picChg>
        <pc:picChg chg="mod modCrop">
          <ac:chgData name="Spilker, Colin" userId="0c894e6e-d246-4602-90e9-391b64b2ccc7" providerId="ADAL" clId="{11E40075-824D-461D-BBED-6B38AC4D9472}" dt="2026-05-01T15:24:04.261" v="1568" actId="732"/>
          <ac:picMkLst>
            <pc:docMk/>
            <pc:sldMk cId="2868045776" sldId="260"/>
            <ac:picMk id="4" creationId="{70667F44-75C8-8F96-AF8F-57B0D299D506}"/>
          </ac:picMkLst>
        </pc:picChg>
        <pc:picChg chg="mod modCrop">
          <ac:chgData name="Spilker, Colin" userId="0c894e6e-d246-4602-90e9-391b64b2ccc7" providerId="ADAL" clId="{11E40075-824D-461D-BBED-6B38AC4D9472}" dt="2026-05-01T15:23:54.035" v="1566" actId="732"/>
          <ac:picMkLst>
            <pc:docMk/>
            <pc:sldMk cId="2868045776" sldId="260"/>
            <ac:picMk id="5" creationId="{E516B130-423D-FEE8-35CC-A4E80CC4605A}"/>
          </ac:picMkLst>
        </pc:picChg>
        <pc:picChg chg="add mod">
          <ac:chgData name="Spilker, Colin" userId="0c894e6e-d246-4602-90e9-391b64b2ccc7" providerId="ADAL" clId="{11E40075-824D-461D-BBED-6B38AC4D9472}" dt="2026-05-05T22:11:46.335" v="1642" actId="1076"/>
          <ac:picMkLst>
            <pc:docMk/>
            <pc:sldMk cId="2868045776" sldId="260"/>
            <ac:picMk id="6" creationId="{8C7BC9B7-E778-7FE7-1522-329BE95EC5A4}"/>
          </ac:picMkLst>
        </pc:picChg>
        <pc:picChg chg="add mod">
          <ac:chgData name="Spilker, Colin" userId="0c894e6e-d246-4602-90e9-391b64b2ccc7" providerId="ADAL" clId="{11E40075-824D-461D-BBED-6B38AC4D9472}" dt="2026-05-05T22:12:03.007" v="1647" actId="1076"/>
          <ac:picMkLst>
            <pc:docMk/>
            <pc:sldMk cId="2868045776" sldId="260"/>
            <ac:picMk id="7" creationId="{3BA1237B-AE98-AC06-75C9-7249903D4F69}"/>
          </ac:picMkLst>
        </pc:picChg>
        <pc:picChg chg="mod modCrop">
          <ac:chgData name="Spilker, Colin" userId="0c894e6e-d246-4602-90e9-391b64b2ccc7" providerId="ADAL" clId="{11E40075-824D-461D-BBED-6B38AC4D9472}" dt="2026-05-01T15:23:44.334" v="1564" actId="732"/>
          <ac:picMkLst>
            <pc:docMk/>
            <pc:sldMk cId="2868045776" sldId="260"/>
            <ac:picMk id="25" creationId="{0C607175-6485-996E-9306-8203894A9D02}"/>
          </ac:picMkLst>
        </pc:picChg>
      </pc:sldChg>
      <pc:sldChg chg="modSp mod">
        <pc:chgData name="Spilker, Colin" userId="0c894e6e-d246-4602-90e9-391b64b2ccc7" providerId="ADAL" clId="{11E40075-824D-461D-BBED-6B38AC4D9472}" dt="2026-05-10T06:58:29.774" v="1737" actId="14100"/>
        <pc:sldMkLst>
          <pc:docMk/>
          <pc:sldMk cId="1947486981" sldId="261"/>
        </pc:sldMkLst>
        <pc:picChg chg="mod modCrop">
          <ac:chgData name="Spilker, Colin" userId="0c894e6e-d246-4602-90e9-391b64b2ccc7" providerId="ADAL" clId="{11E40075-824D-461D-BBED-6B38AC4D9472}" dt="2026-05-10T06:58:29.774" v="1737" actId="14100"/>
          <ac:picMkLst>
            <pc:docMk/>
            <pc:sldMk cId="1947486981" sldId="261"/>
            <ac:picMk id="7" creationId="{59CFB789-D74F-A2E4-210A-6A097401A2C9}"/>
          </ac:picMkLst>
        </pc:picChg>
      </pc:sldChg>
      <pc:sldChg chg="addSp delSp modSp mod">
        <pc:chgData name="Spilker, Colin" userId="0c894e6e-d246-4602-90e9-391b64b2ccc7" providerId="ADAL" clId="{11E40075-824D-461D-BBED-6B38AC4D9472}" dt="2026-05-10T05:51:36.079" v="1724" actId="1076"/>
        <pc:sldMkLst>
          <pc:docMk/>
          <pc:sldMk cId="278100549" sldId="262"/>
        </pc:sldMkLst>
        <pc:spChg chg="mod">
          <ac:chgData name="Spilker, Colin" userId="0c894e6e-d246-4602-90e9-391b64b2ccc7" providerId="ADAL" clId="{11E40075-824D-461D-BBED-6B38AC4D9472}" dt="2026-05-01T15:25:40.685" v="1586" actId="1076"/>
          <ac:spMkLst>
            <pc:docMk/>
            <pc:sldMk cId="278100549" sldId="262"/>
            <ac:spMk id="2" creationId="{ADE76B3A-3B82-D919-0E6B-BD3F41DFE7FA}"/>
          </ac:spMkLst>
        </pc:spChg>
        <pc:graphicFrameChg chg="add mod modGraphic">
          <ac:chgData name="Spilker, Colin" userId="0c894e6e-d246-4602-90e9-391b64b2ccc7" providerId="ADAL" clId="{11E40075-824D-461D-BBED-6B38AC4D9472}" dt="2026-05-07T22:41:44.720" v="1667" actId="20577"/>
          <ac:graphicFrameMkLst>
            <pc:docMk/>
            <pc:sldMk cId="278100549" sldId="262"/>
            <ac:graphicFrameMk id="9" creationId="{1C5D92D4-7013-FFE2-9A96-725EC9682205}"/>
          </ac:graphicFrameMkLst>
        </pc:graphicFrameChg>
        <pc:picChg chg="add mod">
          <ac:chgData name="Spilker, Colin" userId="0c894e6e-d246-4602-90e9-391b64b2ccc7" providerId="ADAL" clId="{11E40075-824D-461D-BBED-6B38AC4D9472}" dt="2026-05-10T05:51:31.585" v="1723" actId="1076"/>
          <ac:picMkLst>
            <pc:docMk/>
            <pc:sldMk cId="278100549" sldId="262"/>
            <ac:picMk id="3" creationId="{A176794C-633F-8AB9-C2B9-C7B2F207F364}"/>
          </ac:picMkLst>
        </pc:picChg>
        <pc:picChg chg="mod">
          <ac:chgData name="Spilker, Colin" userId="0c894e6e-d246-4602-90e9-391b64b2ccc7" providerId="ADAL" clId="{11E40075-824D-461D-BBED-6B38AC4D9472}" dt="2026-05-06T19:00:15.614" v="1659" actId="1076"/>
          <ac:picMkLst>
            <pc:docMk/>
            <pc:sldMk cId="278100549" sldId="262"/>
            <ac:picMk id="4" creationId="{0FA5D363-4F9C-0941-FD69-B580E9380399}"/>
          </ac:picMkLst>
        </pc:picChg>
        <pc:picChg chg="mod">
          <ac:chgData name="Spilker, Colin" userId="0c894e6e-d246-4602-90e9-391b64b2ccc7" providerId="ADAL" clId="{11E40075-824D-461D-BBED-6B38AC4D9472}" dt="2026-04-28T20:57:43.741" v="208" actId="1076"/>
          <ac:picMkLst>
            <pc:docMk/>
            <pc:sldMk cId="278100549" sldId="262"/>
            <ac:picMk id="5" creationId="{024EE27E-3B01-372A-62DF-A7B6EC99A8F2}"/>
          </ac:picMkLst>
        </pc:picChg>
        <pc:picChg chg="add mod modCrop">
          <ac:chgData name="Spilker, Colin" userId="0c894e6e-d246-4602-90e9-391b64b2ccc7" providerId="ADAL" clId="{11E40075-824D-461D-BBED-6B38AC4D9472}" dt="2026-05-10T05:51:36.079" v="1724" actId="1076"/>
          <ac:picMkLst>
            <pc:docMk/>
            <pc:sldMk cId="278100549" sldId="262"/>
            <ac:picMk id="13" creationId="{58C0ED73-E083-AF41-58D6-ED955419A57D}"/>
          </ac:picMkLst>
        </pc:picChg>
      </pc:sldChg>
      <pc:sldChg chg="modSp mod">
        <pc:chgData name="Spilker, Colin" userId="0c894e6e-d246-4602-90e9-391b64b2ccc7" providerId="ADAL" clId="{11E40075-824D-461D-BBED-6B38AC4D9472}" dt="2026-05-06T01:17:38.259" v="1656" actId="1076"/>
        <pc:sldMkLst>
          <pc:docMk/>
          <pc:sldMk cId="267218811" sldId="351"/>
        </pc:sldMkLst>
        <pc:picChg chg="mod">
          <ac:chgData name="Spilker, Colin" userId="0c894e6e-d246-4602-90e9-391b64b2ccc7" providerId="ADAL" clId="{11E40075-824D-461D-BBED-6B38AC4D9472}" dt="2026-05-06T01:17:38.259" v="1656" actId="1076"/>
          <ac:picMkLst>
            <pc:docMk/>
            <pc:sldMk cId="267218811" sldId="351"/>
            <ac:picMk id="8" creationId="{8B4F6A67-97DF-4E49-9731-FA600F0DE2A5}"/>
          </ac:picMkLst>
        </pc:picChg>
      </pc:sldChg>
      <pc:sldChg chg="modSp mod">
        <pc:chgData name="Spilker, Colin" userId="0c894e6e-d246-4602-90e9-391b64b2ccc7" providerId="ADAL" clId="{11E40075-824D-461D-BBED-6B38AC4D9472}" dt="2026-05-10T03:04:38.552" v="1697" actId="20577"/>
        <pc:sldMkLst>
          <pc:docMk/>
          <pc:sldMk cId="629913479" sldId="430"/>
        </pc:sldMkLst>
        <pc:spChg chg="mod">
          <ac:chgData name="Spilker, Colin" userId="0c894e6e-d246-4602-90e9-391b64b2ccc7" providerId="ADAL" clId="{11E40075-824D-461D-BBED-6B38AC4D9472}" dt="2026-05-10T03:04:38.552" v="1697" actId="20577"/>
          <ac:spMkLst>
            <pc:docMk/>
            <pc:sldMk cId="629913479" sldId="430"/>
            <ac:spMk id="10" creationId="{25049CF6-642B-0784-D8AB-5B897E379162}"/>
          </ac:spMkLst>
        </pc:spChg>
      </pc:sldChg>
      <pc:sldChg chg="modSp mod">
        <pc:chgData name="Spilker, Colin" userId="0c894e6e-d246-4602-90e9-391b64b2ccc7" providerId="ADAL" clId="{11E40075-824D-461D-BBED-6B38AC4D9472}" dt="2026-05-06T01:05:45.496" v="1655" actId="1036"/>
        <pc:sldMkLst>
          <pc:docMk/>
          <pc:sldMk cId="4073105279" sldId="431"/>
        </pc:sldMkLst>
        <pc:picChg chg="mod">
          <ac:chgData name="Spilker, Colin" userId="0c894e6e-d246-4602-90e9-391b64b2ccc7" providerId="ADAL" clId="{11E40075-824D-461D-BBED-6B38AC4D9472}" dt="2026-05-06T01:05:45.496" v="1655" actId="1036"/>
          <ac:picMkLst>
            <pc:docMk/>
            <pc:sldMk cId="4073105279" sldId="431"/>
            <ac:picMk id="21" creationId="{C99C5BA8-BCEA-0713-8950-802AE0C34E62}"/>
          </ac:picMkLst>
        </pc:picChg>
      </pc:sldChg>
      <pc:sldChg chg="addSp modSp mod">
        <pc:chgData name="Spilker, Colin" userId="0c894e6e-d246-4602-90e9-391b64b2ccc7" providerId="ADAL" clId="{11E40075-824D-461D-BBED-6B38AC4D9472}" dt="2026-04-29T18:20:12.979" v="676" actId="14100"/>
        <pc:sldMkLst>
          <pc:docMk/>
          <pc:sldMk cId="3842249577" sldId="437"/>
        </pc:sldMkLst>
        <pc:spChg chg="mod">
          <ac:chgData name="Spilker, Colin" userId="0c894e6e-d246-4602-90e9-391b64b2ccc7" providerId="ADAL" clId="{11E40075-824D-461D-BBED-6B38AC4D9472}" dt="2026-04-28T20:52:11.055" v="175" actId="1076"/>
          <ac:spMkLst>
            <pc:docMk/>
            <pc:sldMk cId="3842249577" sldId="437"/>
            <ac:spMk id="3" creationId="{5B56E19B-4D1D-E438-7467-CC4843E4379A}"/>
          </ac:spMkLst>
        </pc:spChg>
        <pc:spChg chg="mod">
          <ac:chgData name="Spilker, Colin" userId="0c894e6e-d246-4602-90e9-391b64b2ccc7" providerId="ADAL" clId="{11E40075-824D-461D-BBED-6B38AC4D9472}" dt="2026-04-28T20:52:05.163" v="171" actId="1076"/>
          <ac:spMkLst>
            <pc:docMk/>
            <pc:sldMk cId="3842249577" sldId="437"/>
            <ac:spMk id="4" creationId="{FD395EB7-0AC8-DF2C-370F-042EC129D206}"/>
          </ac:spMkLst>
        </pc:spChg>
        <pc:spChg chg="add mod">
          <ac:chgData name="Spilker, Colin" userId="0c894e6e-d246-4602-90e9-391b64b2ccc7" providerId="ADAL" clId="{11E40075-824D-461D-BBED-6B38AC4D9472}" dt="2026-04-29T18:15:59.253" v="664" actId="1076"/>
          <ac:spMkLst>
            <pc:docMk/>
            <pc:sldMk cId="3842249577" sldId="437"/>
            <ac:spMk id="7" creationId="{AA6595B9-0C07-B9FD-CE7F-AEA459518F47}"/>
          </ac:spMkLst>
        </pc:spChg>
        <pc:spChg chg="mod">
          <ac:chgData name="Spilker, Colin" userId="0c894e6e-d246-4602-90e9-391b64b2ccc7" providerId="ADAL" clId="{11E40075-824D-461D-BBED-6B38AC4D9472}" dt="2026-04-29T18:20:12.979" v="676" actId="14100"/>
          <ac:spMkLst>
            <pc:docMk/>
            <pc:sldMk cId="3842249577" sldId="437"/>
            <ac:spMk id="10" creationId="{A9A5802A-4FD1-4B79-66FC-3B4EF7D6B739}"/>
          </ac:spMkLst>
        </pc:spChg>
        <pc:picChg chg="add mod">
          <ac:chgData name="Spilker, Colin" userId="0c894e6e-d246-4602-90e9-391b64b2ccc7" providerId="ADAL" clId="{11E40075-824D-461D-BBED-6B38AC4D9472}" dt="2026-04-28T20:51:46.515" v="165" actId="1076"/>
          <ac:picMkLst>
            <pc:docMk/>
            <pc:sldMk cId="3842249577" sldId="437"/>
            <ac:picMk id="6" creationId="{2CBAD5AB-EEC5-CB18-A679-36E0EA75C336}"/>
          </ac:picMkLst>
        </pc:picChg>
        <pc:picChg chg="mod">
          <ac:chgData name="Spilker, Colin" userId="0c894e6e-d246-4602-90e9-391b64b2ccc7" providerId="ADAL" clId="{11E40075-824D-461D-BBED-6B38AC4D9472}" dt="2026-04-28T20:52:13.607" v="176" actId="1076"/>
          <ac:picMkLst>
            <pc:docMk/>
            <pc:sldMk cId="3842249577" sldId="437"/>
            <ac:picMk id="28" creationId="{18F39919-C4E2-526E-BBE6-5627FA54C009}"/>
          </ac:picMkLst>
        </pc:picChg>
      </pc:sldChg>
      <pc:sldChg chg="modSp mod">
        <pc:chgData name="Spilker, Colin" userId="0c894e6e-d246-4602-90e9-391b64b2ccc7" providerId="ADAL" clId="{11E40075-824D-461D-BBED-6B38AC4D9472}" dt="2026-05-10T01:23:30.805" v="1668" actId="1076"/>
        <pc:sldMkLst>
          <pc:docMk/>
          <pc:sldMk cId="2268570144" sldId="438"/>
        </pc:sldMkLst>
        <pc:picChg chg="mod">
          <ac:chgData name="Spilker, Colin" userId="0c894e6e-d246-4602-90e9-391b64b2ccc7" providerId="ADAL" clId="{11E40075-824D-461D-BBED-6B38AC4D9472}" dt="2026-05-10T01:23:30.805" v="1668" actId="1076"/>
          <ac:picMkLst>
            <pc:docMk/>
            <pc:sldMk cId="2268570144" sldId="438"/>
            <ac:picMk id="16" creationId="{E00D81EE-CD7F-0FEB-8488-34E5275DA5EB}"/>
          </ac:picMkLst>
        </pc:picChg>
      </pc:sldChg>
      <pc:sldChg chg="modSp mod">
        <pc:chgData name="Spilker, Colin" userId="0c894e6e-d246-4602-90e9-391b64b2ccc7" providerId="ADAL" clId="{11E40075-824D-461D-BBED-6B38AC4D9472}" dt="2026-05-06T01:00:40.530" v="1651" actId="20577"/>
        <pc:sldMkLst>
          <pc:docMk/>
          <pc:sldMk cId="964612804" sldId="439"/>
        </pc:sldMkLst>
        <pc:graphicFrameChg chg="modGraphic">
          <ac:chgData name="Spilker, Colin" userId="0c894e6e-d246-4602-90e9-391b64b2ccc7" providerId="ADAL" clId="{11E40075-824D-461D-BBED-6B38AC4D9472}" dt="2026-05-06T01:00:40.530" v="1651" actId="20577"/>
          <ac:graphicFrameMkLst>
            <pc:docMk/>
            <pc:sldMk cId="964612804" sldId="439"/>
            <ac:graphicFrameMk id="9" creationId="{77E9FB55-751C-A205-732F-A0ED38A25A43}"/>
          </ac:graphicFrameMkLst>
        </pc:graphicFrameChg>
        <pc:graphicFrameChg chg="modGraphic">
          <ac:chgData name="Spilker, Colin" userId="0c894e6e-d246-4602-90e9-391b64b2ccc7" providerId="ADAL" clId="{11E40075-824D-461D-BBED-6B38AC4D9472}" dt="2026-04-28T20:49:07.175" v="43" actId="20577"/>
          <ac:graphicFrameMkLst>
            <pc:docMk/>
            <pc:sldMk cId="964612804" sldId="439"/>
            <ac:graphicFrameMk id="16" creationId="{2F1907AE-E5FC-69D7-D05B-36E810C73B0A}"/>
          </ac:graphicFrameMkLst>
        </pc:graphicFrameChg>
      </pc:sldChg>
      <pc:sldChg chg="modSp add mod">
        <pc:chgData name="Spilker, Colin" userId="0c894e6e-d246-4602-90e9-391b64b2ccc7" providerId="ADAL" clId="{11E40075-824D-461D-BBED-6B38AC4D9472}" dt="2026-04-29T17:30:25.979" v="246" actId="1076"/>
        <pc:sldMkLst>
          <pc:docMk/>
          <pc:sldMk cId="164672805" sldId="440"/>
        </pc:sldMkLst>
        <pc:spChg chg="mod">
          <ac:chgData name="Spilker, Colin" userId="0c894e6e-d246-4602-90e9-391b64b2ccc7" providerId="ADAL" clId="{11E40075-824D-461D-BBED-6B38AC4D9472}" dt="2026-04-29T17:30:18.122" v="245" actId="404"/>
          <ac:spMkLst>
            <pc:docMk/>
            <pc:sldMk cId="164672805" sldId="440"/>
            <ac:spMk id="3" creationId="{E19E784B-BCDD-E549-1FD2-76CCE6B8B1B0}"/>
          </ac:spMkLst>
        </pc:spChg>
        <pc:picChg chg="mod">
          <ac:chgData name="Spilker, Colin" userId="0c894e6e-d246-4602-90e9-391b64b2ccc7" providerId="ADAL" clId="{11E40075-824D-461D-BBED-6B38AC4D9472}" dt="2026-04-29T17:30:25.979" v="246" actId="1076"/>
          <ac:picMkLst>
            <pc:docMk/>
            <pc:sldMk cId="164672805" sldId="440"/>
            <ac:picMk id="5" creationId="{AEDA3F4D-EA55-3C35-541F-234CEA37C5FF}"/>
          </ac:picMkLst>
        </pc:picChg>
      </pc:sldChg>
      <pc:sldChg chg="modSp add mod">
        <pc:chgData name="Spilker, Colin" userId="0c894e6e-d246-4602-90e9-391b64b2ccc7" providerId="ADAL" clId="{11E40075-824D-461D-BBED-6B38AC4D9472}" dt="2026-05-10T06:03:20.674" v="1736" actId="6549"/>
        <pc:sldMkLst>
          <pc:docMk/>
          <pc:sldMk cId="540645640" sldId="441"/>
        </pc:sldMkLst>
        <pc:spChg chg="mod">
          <ac:chgData name="Spilker, Colin" userId="0c894e6e-d246-4602-90e9-391b64b2ccc7" providerId="ADAL" clId="{11E40075-824D-461D-BBED-6B38AC4D9472}" dt="2026-05-10T06:03:20.674" v="1736" actId="6549"/>
          <ac:spMkLst>
            <pc:docMk/>
            <pc:sldMk cId="540645640" sldId="441"/>
            <ac:spMk id="6" creationId="{38235934-4959-8F40-76A3-BA688F037041}"/>
          </ac:spMkLst>
        </pc:spChg>
        <pc:picChg chg="mod modCrop">
          <ac:chgData name="Spilker, Colin" userId="0c894e6e-d246-4602-90e9-391b64b2ccc7" providerId="ADAL" clId="{11E40075-824D-461D-BBED-6B38AC4D9472}" dt="2026-04-29T17:30:57.311" v="258" actId="732"/>
          <ac:picMkLst>
            <pc:docMk/>
            <pc:sldMk cId="540645640" sldId="441"/>
            <ac:picMk id="5" creationId="{4AF92A3A-4E78-3D87-080E-C89B12054C9F}"/>
          </ac:picMkLst>
        </pc:picChg>
      </pc:sldChg>
      <pc:sldChg chg="addSp delSp modSp add mod ord">
        <pc:chgData name="Spilker, Colin" userId="0c894e6e-d246-4602-90e9-391b64b2ccc7" providerId="ADAL" clId="{11E40075-824D-461D-BBED-6B38AC4D9472}" dt="2026-04-29T18:58:22.591" v="1545" actId="1076"/>
        <pc:sldMkLst>
          <pc:docMk/>
          <pc:sldMk cId="806716442" sldId="442"/>
        </pc:sldMkLst>
        <pc:spChg chg="add mod">
          <ac:chgData name="Spilker, Colin" userId="0c894e6e-d246-4602-90e9-391b64b2ccc7" providerId="ADAL" clId="{11E40075-824D-461D-BBED-6B38AC4D9472}" dt="2026-04-29T18:13:21.536" v="586" actId="20577"/>
          <ac:spMkLst>
            <pc:docMk/>
            <pc:sldMk cId="806716442" sldId="442"/>
            <ac:spMk id="7" creationId="{9D074BE0-9AAD-4200-9BCF-815E8D355D4F}"/>
          </ac:spMkLst>
        </pc:spChg>
        <pc:picChg chg="mod modCrop">
          <ac:chgData name="Spilker, Colin" userId="0c894e6e-d246-4602-90e9-391b64b2ccc7" providerId="ADAL" clId="{11E40075-824D-461D-BBED-6B38AC4D9472}" dt="2026-04-29T18:58:22.591" v="1545" actId="1076"/>
          <ac:picMkLst>
            <pc:docMk/>
            <pc:sldMk cId="806716442" sldId="442"/>
            <ac:picMk id="5" creationId="{27BDA04F-FA08-CBDA-5592-0D7DB6F64BDB}"/>
          </ac:picMkLst>
        </pc:picChg>
      </pc:sldChg>
      <pc:sldChg chg="addSp delSp modSp new mod">
        <pc:chgData name="Spilker, Colin" userId="0c894e6e-d246-4602-90e9-391b64b2ccc7" providerId="ADAL" clId="{11E40075-824D-461D-BBED-6B38AC4D9472}" dt="2026-05-10T05:57:32.614" v="1734" actId="20577"/>
        <pc:sldMkLst>
          <pc:docMk/>
          <pc:sldMk cId="1028957345" sldId="443"/>
        </pc:sldMkLst>
        <pc:spChg chg="mod">
          <ac:chgData name="Spilker, Colin" userId="0c894e6e-d246-4602-90e9-391b64b2ccc7" providerId="ADAL" clId="{11E40075-824D-461D-BBED-6B38AC4D9472}" dt="2026-04-29T18:23:41.772" v="717" actId="1076"/>
          <ac:spMkLst>
            <pc:docMk/>
            <pc:sldMk cId="1028957345" sldId="443"/>
            <ac:spMk id="3" creationId="{3965FAC2-14D0-CD99-523D-9B50630344E6}"/>
          </ac:spMkLst>
        </pc:spChg>
        <pc:spChg chg="mod">
          <ac:chgData name="Spilker, Colin" userId="0c894e6e-d246-4602-90e9-391b64b2ccc7" providerId="ADAL" clId="{11E40075-824D-461D-BBED-6B38AC4D9472}" dt="2026-04-29T18:32:18.003" v="768" actId="1076"/>
          <ac:spMkLst>
            <pc:docMk/>
            <pc:sldMk cId="1028957345" sldId="443"/>
            <ac:spMk id="4" creationId="{9C064935-185F-CC21-0CF4-E5160DF84E74}"/>
          </ac:spMkLst>
        </pc:spChg>
        <pc:spChg chg="add mod">
          <ac:chgData name="Spilker, Colin" userId="0c894e6e-d246-4602-90e9-391b64b2ccc7" providerId="ADAL" clId="{11E40075-824D-461D-BBED-6B38AC4D9472}" dt="2026-04-29T18:32:22.500" v="775" actId="20577"/>
          <ac:spMkLst>
            <pc:docMk/>
            <pc:sldMk cId="1028957345" sldId="443"/>
            <ac:spMk id="21" creationId="{099ED3E7-C74B-3702-CCDA-3EFDEAA656E5}"/>
          </ac:spMkLst>
        </pc:spChg>
        <pc:spChg chg="add mod">
          <ac:chgData name="Spilker, Colin" userId="0c894e6e-d246-4602-90e9-391b64b2ccc7" providerId="ADAL" clId="{11E40075-824D-461D-BBED-6B38AC4D9472}" dt="2026-05-10T05:57:32.614" v="1734" actId="20577"/>
          <ac:spMkLst>
            <pc:docMk/>
            <pc:sldMk cId="1028957345" sldId="443"/>
            <ac:spMk id="26" creationId="{3A22D87A-BAF0-6CA3-3B86-3AA14FB3509F}"/>
          </ac:spMkLst>
        </pc:spChg>
        <pc:picChg chg="add mod">
          <ac:chgData name="Spilker, Colin" userId="0c894e6e-d246-4602-90e9-391b64b2ccc7" providerId="ADAL" clId="{11E40075-824D-461D-BBED-6B38AC4D9472}" dt="2026-04-29T18:41:31.066" v="789" actId="1076"/>
          <ac:picMkLst>
            <pc:docMk/>
            <pc:sldMk cId="1028957345" sldId="443"/>
            <ac:picMk id="5" creationId="{63FFACA6-3C88-5B32-15C0-6DB4B6DFC6CA}"/>
          </ac:picMkLst>
        </pc:picChg>
        <pc:picChg chg="add mod">
          <ac:chgData name="Spilker, Colin" userId="0c894e6e-d246-4602-90e9-391b64b2ccc7" providerId="ADAL" clId="{11E40075-824D-461D-BBED-6B38AC4D9472}" dt="2026-04-29T18:41:31.066" v="789" actId="1076"/>
          <ac:picMkLst>
            <pc:docMk/>
            <pc:sldMk cId="1028957345" sldId="443"/>
            <ac:picMk id="8" creationId="{C33A015D-DC68-CDAF-3A07-859B6A70D3D6}"/>
          </ac:picMkLst>
        </pc:picChg>
        <pc:picChg chg="add mod">
          <ac:chgData name="Spilker, Colin" userId="0c894e6e-d246-4602-90e9-391b64b2ccc7" providerId="ADAL" clId="{11E40075-824D-461D-BBED-6B38AC4D9472}" dt="2026-04-29T18:41:31.066" v="789" actId="1076"/>
          <ac:picMkLst>
            <pc:docMk/>
            <pc:sldMk cId="1028957345" sldId="443"/>
            <ac:picMk id="10" creationId="{7C20ED73-CFC6-81E9-2E29-CF4FB2FF296F}"/>
          </ac:picMkLst>
        </pc:picChg>
        <pc:picChg chg="add mod">
          <ac:chgData name="Spilker, Colin" userId="0c894e6e-d246-4602-90e9-391b64b2ccc7" providerId="ADAL" clId="{11E40075-824D-461D-BBED-6B38AC4D9472}" dt="2026-04-29T18:41:31.066" v="789" actId="1076"/>
          <ac:picMkLst>
            <pc:docMk/>
            <pc:sldMk cId="1028957345" sldId="443"/>
            <ac:picMk id="12" creationId="{D181EAFC-FA0A-AEB2-331A-D8960CD5CF2F}"/>
          </ac:picMkLst>
        </pc:picChg>
        <pc:picChg chg="add mod">
          <ac:chgData name="Spilker, Colin" userId="0c894e6e-d246-4602-90e9-391b64b2ccc7" providerId="ADAL" clId="{11E40075-824D-461D-BBED-6B38AC4D9472}" dt="2026-04-29T18:41:31.066" v="789" actId="1076"/>
          <ac:picMkLst>
            <pc:docMk/>
            <pc:sldMk cId="1028957345" sldId="443"/>
            <ac:picMk id="14" creationId="{BFA8B8A7-DD4D-E8FF-AEA3-1084B4C99736}"/>
          </ac:picMkLst>
        </pc:picChg>
        <pc:picChg chg="add mod">
          <ac:chgData name="Spilker, Colin" userId="0c894e6e-d246-4602-90e9-391b64b2ccc7" providerId="ADAL" clId="{11E40075-824D-461D-BBED-6B38AC4D9472}" dt="2026-04-29T18:41:31.066" v="789" actId="1076"/>
          <ac:picMkLst>
            <pc:docMk/>
            <pc:sldMk cId="1028957345" sldId="443"/>
            <ac:picMk id="20" creationId="{1EE6090D-45BD-E270-F183-727BC5B6E7A6}"/>
          </ac:picMkLst>
        </pc:picChg>
        <pc:picChg chg="add mod modCrop">
          <ac:chgData name="Spilker, Colin" userId="0c894e6e-d246-4602-90e9-391b64b2ccc7" providerId="ADAL" clId="{11E40075-824D-461D-BBED-6B38AC4D9472}" dt="2026-04-29T18:41:31.066" v="789" actId="1076"/>
          <ac:picMkLst>
            <pc:docMk/>
            <pc:sldMk cId="1028957345" sldId="443"/>
            <ac:picMk id="23" creationId="{43B2AE59-D0B3-6C2A-C52A-B788E8784C61}"/>
          </ac:picMkLst>
        </pc:picChg>
      </pc:sldChg>
      <pc:sldChg chg="addSp delSp modSp new del mod">
        <pc:chgData name="Spilker, Colin" userId="0c894e6e-d246-4602-90e9-391b64b2ccc7" providerId="ADAL" clId="{11E40075-824D-461D-BBED-6B38AC4D9472}" dt="2026-05-10T05:48:00.539" v="1713" actId="47"/>
        <pc:sldMkLst>
          <pc:docMk/>
          <pc:sldMk cId="2441611192" sldId="444"/>
        </pc:sldMkLst>
        <pc:spChg chg="del">
          <ac:chgData name="Spilker, Colin" userId="0c894e6e-d246-4602-90e9-391b64b2ccc7" providerId="ADAL" clId="{11E40075-824D-461D-BBED-6B38AC4D9472}" dt="2026-05-10T05:47:52.401" v="1710" actId="478"/>
          <ac:spMkLst>
            <pc:docMk/>
            <pc:sldMk cId="2441611192" sldId="444"/>
            <ac:spMk id="2" creationId="{C8D5665E-BF8F-9CBF-09C2-C050A187662A}"/>
          </ac:spMkLst>
        </pc:spChg>
        <pc:spChg chg="del">
          <ac:chgData name="Spilker, Colin" userId="0c894e6e-d246-4602-90e9-391b64b2ccc7" providerId="ADAL" clId="{11E40075-824D-461D-BBED-6B38AC4D9472}" dt="2026-05-10T05:47:48.051" v="1709" actId="478"/>
          <ac:spMkLst>
            <pc:docMk/>
            <pc:sldMk cId="2441611192" sldId="444"/>
            <ac:spMk id="3" creationId="{BA9CBE53-DB58-05F2-5C7F-4FC3BF5B3BA8}"/>
          </ac:spMkLst>
        </pc:spChg>
        <pc:picChg chg="add del mod">
          <ac:chgData name="Spilker, Colin" userId="0c894e6e-d246-4602-90e9-391b64b2ccc7" providerId="ADAL" clId="{11E40075-824D-461D-BBED-6B38AC4D9472}" dt="2026-05-10T05:47:58.150" v="1712" actId="478"/>
          <ac:picMkLst>
            <pc:docMk/>
            <pc:sldMk cId="2441611192" sldId="444"/>
            <ac:picMk id="4" creationId="{EEA274C8-5031-96F6-0496-20B6D910252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047788-3D83-4EF3-9112-5FFE3F67915D}"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1BF38-4CEA-4C2A-A937-6AB5A8BD46D5}" type="slidenum">
              <a:rPr lang="en-US" smtClean="0"/>
              <a:t>‹#›</a:t>
            </a:fld>
            <a:endParaRPr lang="en-US"/>
          </a:p>
        </p:txBody>
      </p:sp>
    </p:spTree>
    <p:extLst>
      <p:ext uri="{BB962C8B-B14F-4D97-AF65-F5344CB8AC3E}">
        <p14:creationId xmlns:p14="http://schemas.microsoft.com/office/powerpoint/2010/main" val="443834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DC2F4-0B4F-6F38-EB23-7649BAF5B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4EAFF-3AE4-802A-59DA-6BB3BC256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5047A-7ECC-6BBD-B8DD-36D54CA58D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5984EA-60CC-CA03-7541-AD4012DE30FA}"/>
              </a:ext>
            </a:extLst>
          </p:cNvPr>
          <p:cNvSpPr>
            <a:spLocks noGrp="1"/>
          </p:cNvSpPr>
          <p:nvPr>
            <p:ph type="sldNum" sz="quarter" idx="5"/>
          </p:nvPr>
        </p:nvSpPr>
        <p:spPr/>
        <p:txBody>
          <a:bodyPr/>
          <a:lstStyle/>
          <a:p>
            <a:fld id="{AA01BF38-4CEA-4C2A-A937-6AB5A8BD46D5}" type="slidenum">
              <a:rPr lang="en-US" smtClean="0"/>
              <a:t>1</a:t>
            </a:fld>
            <a:endParaRPr lang="en-US"/>
          </a:p>
        </p:txBody>
      </p:sp>
    </p:spTree>
    <p:extLst>
      <p:ext uri="{BB962C8B-B14F-4D97-AF65-F5344CB8AC3E}">
        <p14:creationId xmlns:p14="http://schemas.microsoft.com/office/powerpoint/2010/main" val="2521205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01BF38-4CEA-4C2A-A937-6AB5A8BD46D5}" type="slidenum">
              <a:rPr lang="en-US" smtClean="0"/>
              <a:t>2</a:t>
            </a:fld>
            <a:endParaRPr lang="en-US"/>
          </a:p>
        </p:txBody>
      </p:sp>
    </p:spTree>
    <p:extLst>
      <p:ext uri="{BB962C8B-B14F-4D97-AF65-F5344CB8AC3E}">
        <p14:creationId xmlns:p14="http://schemas.microsoft.com/office/powerpoint/2010/main" val="1604442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F4313-3513-A558-DBC9-54BDD1660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55F7C-656D-248D-A1C6-B993B38A7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FEFAC2-8114-C929-0372-CA45CA524A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8D681B-205E-3E9B-CDA9-EA6104F1A14A}"/>
              </a:ext>
            </a:extLst>
          </p:cNvPr>
          <p:cNvSpPr>
            <a:spLocks noGrp="1"/>
          </p:cNvSpPr>
          <p:nvPr>
            <p:ph type="sldNum" sz="quarter" idx="5"/>
          </p:nvPr>
        </p:nvSpPr>
        <p:spPr/>
        <p:txBody>
          <a:bodyPr/>
          <a:lstStyle/>
          <a:p>
            <a:fld id="{AA01BF38-4CEA-4C2A-A937-6AB5A8BD46D5}" type="slidenum">
              <a:rPr lang="en-US" smtClean="0"/>
              <a:t>3</a:t>
            </a:fld>
            <a:endParaRPr lang="en-US"/>
          </a:p>
        </p:txBody>
      </p:sp>
    </p:spTree>
    <p:extLst>
      <p:ext uri="{BB962C8B-B14F-4D97-AF65-F5344CB8AC3E}">
        <p14:creationId xmlns:p14="http://schemas.microsoft.com/office/powerpoint/2010/main" val="136166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2603C-7B5C-2334-3C35-6134DF556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8B577-E74B-7701-FAA7-7B1C9DBB81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F49CB-4298-A30C-59AB-2829C1E741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980A7BA-BA90-E774-7C5E-6EE3C58B0065}"/>
              </a:ext>
            </a:extLst>
          </p:cNvPr>
          <p:cNvSpPr>
            <a:spLocks noGrp="1"/>
          </p:cNvSpPr>
          <p:nvPr>
            <p:ph type="sldNum" sz="quarter" idx="5"/>
          </p:nvPr>
        </p:nvSpPr>
        <p:spPr/>
        <p:txBody>
          <a:bodyPr/>
          <a:lstStyle/>
          <a:p>
            <a:fld id="{AA01BF38-4CEA-4C2A-A937-6AB5A8BD46D5}" type="slidenum">
              <a:rPr lang="en-US" smtClean="0"/>
              <a:t>4</a:t>
            </a:fld>
            <a:endParaRPr lang="en-US"/>
          </a:p>
        </p:txBody>
      </p:sp>
    </p:spTree>
    <p:extLst>
      <p:ext uri="{BB962C8B-B14F-4D97-AF65-F5344CB8AC3E}">
        <p14:creationId xmlns:p14="http://schemas.microsoft.com/office/powerpoint/2010/main" val="3949473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760B067-907A-4F3C-A334-C8269118F818}" type="slidenum">
              <a:rPr lang="en-US" smtClean="0"/>
              <a:t>9</a:t>
            </a:fld>
            <a:endParaRPr lang="en-US"/>
          </a:p>
        </p:txBody>
      </p:sp>
    </p:spTree>
    <p:extLst>
      <p:ext uri="{BB962C8B-B14F-4D97-AF65-F5344CB8AC3E}">
        <p14:creationId xmlns:p14="http://schemas.microsoft.com/office/powerpoint/2010/main" val="1607803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6006-31D6-69DF-E2AB-8FB6EE5D87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A7FEC1-4E60-BBA3-FC0A-789D6E6C5F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63D8BA-AB44-59E9-4FE1-F1900B65F395}"/>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5" name="Footer Placeholder 4">
            <a:extLst>
              <a:ext uri="{FF2B5EF4-FFF2-40B4-BE49-F238E27FC236}">
                <a16:creationId xmlns:a16="http://schemas.microsoft.com/office/drawing/2014/main" id="{1CEA5D9F-FDEB-8498-FD67-7284AC1190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5B5EB3-F2AE-024D-FF28-C8BCA87E24A3}"/>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2290306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2AFDE-CBAE-F35F-9839-2D82675802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465ABC-3233-1F16-9BC4-DC6A11F025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DAB331-F8A4-0A1F-612F-3BE49564D191}"/>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5" name="Footer Placeholder 4">
            <a:extLst>
              <a:ext uri="{FF2B5EF4-FFF2-40B4-BE49-F238E27FC236}">
                <a16:creationId xmlns:a16="http://schemas.microsoft.com/office/drawing/2014/main" id="{4E1E2630-3425-F4DC-D107-498D75E5CD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2EB618-85D9-DC61-1A6C-A67CF96FCA37}"/>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3119866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5B6F7-1D2B-2C65-6141-CB2C342E84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829679-3A50-D4DC-0C9E-01B026F97C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DC2655-5CC8-D140-EE5F-556465F05E9A}"/>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5" name="Footer Placeholder 4">
            <a:extLst>
              <a:ext uri="{FF2B5EF4-FFF2-40B4-BE49-F238E27FC236}">
                <a16:creationId xmlns:a16="http://schemas.microsoft.com/office/drawing/2014/main" id="{E9E9AADB-361F-A9F4-3716-375377E22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B6030-A830-EAC7-3D9F-04B149DC6546}"/>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2348059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8C5D5-84B1-9DAA-F02F-72304BD6B0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1144B6-9F51-AF49-DE07-8D13B3920A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653197-A5CA-A798-D340-822089B583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C6B1EB-0DFA-5E66-ACF6-0D01B4F1B461}"/>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6" name="Footer Placeholder 5">
            <a:extLst>
              <a:ext uri="{FF2B5EF4-FFF2-40B4-BE49-F238E27FC236}">
                <a16:creationId xmlns:a16="http://schemas.microsoft.com/office/drawing/2014/main" id="{ED198DAB-AD4C-D2D6-D101-EB886D1B3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5A0C72-9395-C812-A259-2B1806728CAE}"/>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5791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83D93-EA4C-B102-4FEF-AFE19CD1E7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788F33-B41B-0E05-6E4C-ACCFD58703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F74E69-80D7-65B7-DE62-3005B8D1A5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AADF84-8B19-1422-4C6D-6D34AA1D81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3ED7EC-E3F8-0FF0-D885-B15F48A764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6AE7F-81D6-38D2-38E9-BFFD69C7905D}"/>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8" name="Footer Placeholder 7">
            <a:extLst>
              <a:ext uri="{FF2B5EF4-FFF2-40B4-BE49-F238E27FC236}">
                <a16:creationId xmlns:a16="http://schemas.microsoft.com/office/drawing/2014/main" id="{FF8DDDE1-9D13-A58E-F84D-E39F57679B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0973FA-A2D3-1B0E-4804-5D54006FBAD0}"/>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940958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6BBB0-83AF-ECB4-66F9-B59C6418EE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C0C662-4FEB-25BF-F347-32720C189DED}"/>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4" name="Footer Placeholder 3">
            <a:extLst>
              <a:ext uri="{FF2B5EF4-FFF2-40B4-BE49-F238E27FC236}">
                <a16:creationId xmlns:a16="http://schemas.microsoft.com/office/drawing/2014/main" id="{8601243F-58C7-1EB0-952A-3B4C8BAFF9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FD159D-AF4A-94F3-6014-BA6BAC97FD25}"/>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3037910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6E89CF-BF91-A731-2DF5-E13B52466956}"/>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3" name="Footer Placeholder 2">
            <a:extLst>
              <a:ext uri="{FF2B5EF4-FFF2-40B4-BE49-F238E27FC236}">
                <a16:creationId xmlns:a16="http://schemas.microsoft.com/office/drawing/2014/main" id="{7579823D-F829-0D49-1E35-B5D4ADEA79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9F5040-DE10-953C-9D30-93945D62FF0B}"/>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458022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76BA3-772B-2B23-7CB7-F395207DF3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5D7255-E6DA-1BAA-A449-057F2E58F7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2D3514-6AE6-DF4D-9DE5-843DCB3D8A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6D6A44-7473-203E-23CE-AE9FFF1670A9}"/>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6" name="Footer Placeholder 5">
            <a:extLst>
              <a:ext uri="{FF2B5EF4-FFF2-40B4-BE49-F238E27FC236}">
                <a16:creationId xmlns:a16="http://schemas.microsoft.com/office/drawing/2014/main" id="{224AFF35-46E8-E907-041F-E867206E02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BA3E5E-D0AE-8AB9-5CC4-A76C125491DB}"/>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1160726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79A70-9622-D65C-DA33-4E6C614CEC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54BD4E-DE99-DBD0-D047-4C2F8F0E49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6D3446-4C52-C033-C9D8-463A627F7B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E01770-0823-CAF9-8F4C-E2B851CA7E21}"/>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6" name="Footer Placeholder 5">
            <a:extLst>
              <a:ext uri="{FF2B5EF4-FFF2-40B4-BE49-F238E27FC236}">
                <a16:creationId xmlns:a16="http://schemas.microsoft.com/office/drawing/2014/main" id="{2EF2807F-E440-61DC-EB95-92838EE5C8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2CFA99-6395-E245-4826-4CE1F3E96D01}"/>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87542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AABE9-D292-6548-464D-69D5F8F367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D21237-C03A-AC29-9313-DD1452C91E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7E740A-9BA8-447B-0427-C5EA50EC309B}"/>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5" name="Footer Placeholder 4">
            <a:extLst>
              <a:ext uri="{FF2B5EF4-FFF2-40B4-BE49-F238E27FC236}">
                <a16:creationId xmlns:a16="http://schemas.microsoft.com/office/drawing/2014/main" id="{C20A206E-C545-8DF8-4C74-28AC4384F6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4CCCD3-0B0A-3319-E224-8E34803870A7}"/>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558830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0C288F-C3FB-49AF-B0E2-81D98D6412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65808C-470F-BA83-AB42-791C8357A9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2B16A-81AF-58B5-39B0-55D5A4380C9D}"/>
              </a:ext>
            </a:extLst>
          </p:cNvPr>
          <p:cNvSpPr>
            <a:spLocks noGrp="1"/>
          </p:cNvSpPr>
          <p:nvPr>
            <p:ph type="dt" sz="half" idx="10"/>
          </p:nvPr>
        </p:nvSpPr>
        <p:spPr/>
        <p:txBody>
          <a:bodyPr/>
          <a:lstStyle/>
          <a:p>
            <a:fld id="{34B5A003-C1C3-451D-B961-EDBE6908587E}" type="datetimeFigureOut">
              <a:rPr lang="en-US" smtClean="0"/>
              <a:t>5/6/2026</a:t>
            </a:fld>
            <a:endParaRPr lang="en-US"/>
          </a:p>
        </p:txBody>
      </p:sp>
      <p:sp>
        <p:nvSpPr>
          <p:cNvPr id="5" name="Footer Placeholder 4">
            <a:extLst>
              <a:ext uri="{FF2B5EF4-FFF2-40B4-BE49-F238E27FC236}">
                <a16:creationId xmlns:a16="http://schemas.microsoft.com/office/drawing/2014/main" id="{E5A30FFD-7303-E653-D6AC-D232487404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B4C0A9-56FF-0279-A7D3-001571FE4CF1}"/>
              </a:ext>
            </a:extLst>
          </p:cNvPr>
          <p:cNvSpPr>
            <a:spLocks noGrp="1"/>
          </p:cNvSpPr>
          <p:nvPr>
            <p:ph type="sldNum" sz="quarter" idx="12"/>
          </p:nvPr>
        </p:nvSpPr>
        <p:spPr/>
        <p:txBody>
          <a:bodyPr/>
          <a:lstStyle/>
          <a:p>
            <a:fld id="{8A5B5145-3BC1-4701-97D1-8F0988A798C6}" type="slidenum">
              <a:rPr lang="en-US" smtClean="0"/>
              <a:t>‹#›</a:t>
            </a:fld>
            <a:endParaRPr lang="en-US"/>
          </a:p>
        </p:txBody>
      </p:sp>
    </p:spTree>
    <p:extLst>
      <p:ext uri="{BB962C8B-B14F-4D97-AF65-F5344CB8AC3E}">
        <p14:creationId xmlns:p14="http://schemas.microsoft.com/office/powerpoint/2010/main" val="4080048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957332-D552-CFF1-A312-7F659A064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271FC0-325B-24BC-1F1B-4B6C71FBEA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8FA4E-9662-1230-CF0C-95DEDBB2FC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B5A003-C1C3-451D-B961-EDBE6908587E}" type="datetimeFigureOut">
              <a:rPr lang="en-US" smtClean="0"/>
              <a:t>5/6/2026</a:t>
            </a:fld>
            <a:endParaRPr lang="en-US"/>
          </a:p>
        </p:txBody>
      </p:sp>
      <p:sp>
        <p:nvSpPr>
          <p:cNvPr id="5" name="Footer Placeholder 4">
            <a:extLst>
              <a:ext uri="{FF2B5EF4-FFF2-40B4-BE49-F238E27FC236}">
                <a16:creationId xmlns:a16="http://schemas.microsoft.com/office/drawing/2014/main" id="{D2867AA4-EC9E-03D1-E32F-A1984C26CA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0DE41C-FD08-2357-F902-295B8E762C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5B5145-3BC1-4701-97D1-8F0988A798C6}" type="slidenum">
              <a:rPr lang="en-US" smtClean="0"/>
              <a:t>‹#›</a:t>
            </a:fld>
            <a:endParaRPr lang="en-US"/>
          </a:p>
        </p:txBody>
      </p:sp>
    </p:spTree>
    <p:extLst>
      <p:ext uri="{BB962C8B-B14F-4D97-AF65-F5344CB8AC3E}">
        <p14:creationId xmlns:p14="http://schemas.microsoft.com/office/powerpoint/2010/main" val="3737298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3.png"/><Relationship Id="rId7" Type="http://schemas.openxmlformats.org/officeDocument/2006/relationships/image" Target="../media/image25.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5.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87A4B-89AD-2166-6D63-EFDD73B9A0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BDA04F-FA08-CBDA-5592-0D7DB6F64BDB}"/>
              </a:ext>
            </a:extLst>
          </p:cNvPr>
          <p:cNvPicPr>
            <a:picLocks noChangeAspect="1"/>
          </p:cNvPicPr>
          <p:nvPr/>
        </p:nvPicPr>
        <p:blipFill>
          <a:blip r:embed="rId3"/>
          <a:srcRect r="12191"/>
          <a:stretch>
            <a:fillRect/>
          </a:stretch>
        </p:blipFill>
        <p:spPr>
          <a:xfrm>
            <a:off x="-135683" y="0"/>
            <a:ext cx="6650784" cy="6858000"/>
          </a:xfrm>
          <a:prstGeom prst="rect">
            <a:avLst/>
          </a:prstGeom>
        </p:spPr>
      </p:pic>
      <p:sp>
        <p:nvSpPr>
          <p:cNvPr id="7" name="TextBox 6">
            <a:extLst>
              <a:ext uri="{FF2B5EF4-FFF2-40B4-BE49-F238E27FC236}">
                <a16:creationId xmlns:a16="http://schemas.microsoft.com/office/drawing/2014/main" id="{9D074BE0-9AAD-4200-9BCF-815E8D355D4F}"/>
              </a:ext>
            </a:extLst>
          </p:cNvPr>
          <p:cNvSpPr txBox="1"/>
          <p:nvPr/>
        </p:nvSpPr>
        <p:spPr>
          <a:xfrm>
            <a:off x="6515101" y="203200"/>
            <a:ext cx="5689600" cy="6639253"/>
          </a:xfrm>
          <a:prstGeom prst="rect">
            <a:avLst/>
          </a:prstGeom>
          <a:solidFill>
            <a:schemeClr val="bg1"/>
          </a:solidFill>
        </p:spPr>
        <p:txBody>
          <a:bodyPr wrap="square">
            <a:spAutoFit/>
          </a:bodyPr>
          <a:lstStyle/>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main vehicle goals of light vehicle and tight responsive corning, dictated by suspension and powertrain (we have aggressive aero, moderate vehicle roll and soft suspension, tiny 1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cyl</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engine, we are not grip limited compared to 4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cyl</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teams)</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needs weights, total grip sustained with and without aero (mu) and balance</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Then talk about cg, track and wheelbase </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Handling metrics and oversteer alongside as driver feedback and testing we got into tire temps and 4 point steady state MF5 tire model with roll, slip and aero loading to set base for tuning</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Tire/</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Kinematics:Progressive</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motion ratio, different front and rear nominal but same progressive shape resulting in gradual breakaway due to greater loading. Also no anti squat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bc</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we are power limited and don’t have too much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longitudal</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accelartion</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weight transfer to worry about, not an issue, 50% anti dive for front wing stability, total shifts pitch center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foreward</a:t>
            </a:r>
            <a:endParaRPr lang="en-US" sz="105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Model</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4 point MF5 steady state, roll slip and aero, targeting apex of cornering and steady state.</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Limitations is the model will overfit as MF5 does not have a drop off, no transients modeled</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Can predict vehicle beta, which gave to aero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subteam</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to get expected sideslip on aero package.</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Can tell which wheel will load the greatest force, Rear outside based on having rear biased cg. Can tell which axel will saturate first predicting slight mechanical oversteer on the car, this is what driver see.</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Used to target baseline before driver feedback and tuning</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Can also shows operating conditions of tires by mapping to the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pacejaka</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curves, see circled curves</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Validates how aero increases total grip by shifting the operation conditions to higher speed and steering</a:t>
            </a:r>
          </a:p>
          <a:p>
            <a:pPr marL="0" marR="0">
              <a:lnSpc>
                <a:spcPct val="115000"/>
              </a:lnSpc>
              <a:spcAft>
                <a:spcPts val="800"/>
              </a:spcAft>
              <a:buNone/>
            </a:pPr>
            <a:r>
              <a:rPr lang="en-US" sz="1050" kern="100" dirty="0">
                <a:effectLst/>
                <a:latin typeface="Aptos" panose="020B0004020202020204" pitchFamily="34" charset="0"/>
                <a:ea typeface="Aptos" panose="020B0004020202020204" pitchFamily="34" charset="0"/>
                <a:cs typeface="Times New Roman" panose="02020603050405020304" pitchFamily="18" charset="0"/>
              </a:rPr>
              <a:t>Newton </a:t>
            </a:r>
            <a:r>
              <a:rPr lang="en-US" sz="1050" kern="100" dirty="0" err="1">
                <a:effectLst/>
                <a:latin typeface="Aptos" panose="020B0004020202020204" pitchFamily="34" charset="0"/>
                <a:ea typeface="Aptos" panose="020B0004020202020204" pitchFamily="34" charset="0"/>
                <a:cs typeface="Times New Roman" panose="02020603050405020304" pitchFamily="18" charset="0"/>
              </a:rPr>
              <a:t>rhapson</a:t>
            </a:r>
            <a:r>
              <a:rPr lang="en-US" sz="1050" kern="100" dirty="0">
                <a:effectLst/>
                <a:latin typeface="Aptos" panose="020B0004020202020204" pitchFamily="34" charset="0"/>
                <a:ea typeface="Aptos" panose="020B0004020202020204" pitchFamily="34" charset="0"/>
                <a:cs typeface="Times New Roman" panose="02020603050405020304" pitchFamily="18" charset="0"/>
              </a:rPr>
              <a:t> method to find equilibrium of tires, inherently will overfit as shown by large extrapolation</a:t>
            </a:r>
          </a:p>
        </p:txBody>
      </p:sp>
    </p:spTree>
    <p:extLst>
      <p:ext uri="{BB962C8B-B14F-4D97-AF65-F5344CB8AC3E}">
        <p14:creationId xmlns:p14="http://schemas.microsoft.com/office/powerpoint/2010/main" val="806716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936A59-9443-3B1A-01B5-5D8BB7206DA6}"/>
              </a:ext>
            </a:extLst>
          </p:cNvPr>
          <p:cNvPicPr>
            <a:picLocks noChangeAspect="1"/>
          </p:cNvPicPr>
          <p:nvPr/>
        </p:nvPicPr>
        <p:blipFill>
          <a:blip r:embed="rId3"/>
          <a:stretch>
            <a:fillRect/>
          </a:stretch>
        </p:blipFill>
        <p:spPr>
          <a:xfrm>
            <a:off x="-135684" y="0"/>
            <a:ext cx="7574145" cy="6858000"/>
          </a:xfrm>
          <a:prstGeom prst="rect">
            <a:avLst/>
          </a:prstGeom>
        </p:spPr>
      </p:pic>
      <p:sp>
        <p:nvSpPr>
          <p:cNvPr id="2" name="TextBox 1">
            <a:extLst>
              <a:ext uri="{FF2B5EF4-FFF2-40B4-BE49-F238E27FC236}">
                <a16:creationId xmlns:a16="http://schemas.microsoft.com/office/drawing/2014/main" id="{9EE848A4-BF3A-E361-BEEF-AA1AA8C06A5F}"/>
              </a:ext>
            </a:extLst>
          </p:cNvPr>
          <p:cNvSpPr txBox="1"/>
          <p:nvPr/>
        </p:nvSpPr>
        <p:spPr>
          <a:xfrm>
            <a:off x="7002645" y="355600"/>
            <a:ext cx="5189355" cy="6321474"/>
          </a:xfrm>
          <a:prstGeom prst="rect">
            <a:avLst/>
          </a:prstGeom>
          <a:noFill/>
        </p:spPr>
        <p:txBody>
          <a:bodyPr wrap="square">
            <a:spAutoFit/>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Vehicle dynamic concepts: F= ma, M= &lt;400lbs and about 250kg with a light driver. Max A had an aggressive goal of 2 g based on tire theoretical grip, we measured with no aero 1.55 sustained and 1.96 peak and expect higher sustained. Our tire </a:t>
            </a:r>
            <a:r>
              <a:rPr lang="en-US" sz="1200" kern="100" err="1">
                <a:effectLst/>
                <a:latin typeface="Aptos" panose="020B0004020202020204" pitchFamily="34" charset="0"/>
                <a:ea typeface="Aptos" panose="020B0004020202020204" pitchFamily="34" charset="0"/>
                <a:cs typeface="Times New Roman" panose="02020603050405020304" pitchFamily="18" charset="0"/>
              </a:rPr>
              <a:t>coeeficient</a:t>
            </a:r>
            <a:r>
              <a:rPr lang="en-US" sz="1200" kern="100">
                <a:effectLst/>
                <a:latin typeface="Aptos" panose="020B0004020202020204" pitchFamily="34" charset="0"/>
                <a:ea typeface="Aptos" panose="020B0004020202020204" pitchFamily="34" charset="0"/>
                <a:cs typeface="Times New Roman" panose="02020603050405020304" pitchFamily="18" charset="0"/>
              </a:rPr>
              <a:t> is 1.55 </a:t>
            </a:r>
            <a:r>
              <a:rPr lang="en-US" sz="1200" kern="100" err="1">
                <a:effectLst/>
                <a:latin typeface="Aptos" panose="020B0004020202020204" pitchFamily="34" charset="0"/>
                <a:ea typeface="Aptos" panose="020B0004020202020204" pitchFamily="34" charset="0"/>
                <a:cs typeface="Times New Roman" panose="02020603050405020304" pitchFamily="18" charset="0"/>
              </a:rPr>
              <a:t>sustatined</a:t>
            </a:r>
            <a:r>
              <a:rPr lang="en-US" sz="1200" kern="100">
                <a:effectLst/>
                <a:latin typeface="Aptos" panose="020B0004020202020204" pitchFamily="34" charset="0"/>
                <a:ea typeface="Aptos" panose="020B0004020202020204" pitchFamily="34" charset="0"/>
                <a:cs typeface="Times New Roman" panose="02020603050405020304" pitchFamily="18" charset="0"/>
              </a:rPr>
              <a:t> and with more load it will increase</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CG location is rearward at about 55% rear biased with driver. Aero is front balanced at 60% front wheels. Both due to packaging of engine and turbulence of air. This is allowed to gradually shift cg </a:t>
            </a:r>
            <a:r>
              <a:rPr lang="en-US" sz="1200" kern="100" err="1">
                <a:effectLst/>
                <a:latin typeface="Aptos" panose="020B0004020202020204" pitchFamily="34" charset="0"/>
                <a:ea typeface="Aptos" panose="020B0004020202020204" pitchFamily="34" charset="0"/>
                <a:cs typeface="Times New Roman" panose="02020603050405020304" pitchFamily="18" charset="0"/>
              </a:rPr>
              <a:t>foreward</a:t>
            </a:r>
            <a:r>
              <a:rPr lang="en-US" sz="1200" kern="100">
                <a:effectLst/>
                <a:latin typeface="Aptos" panose="020B0004020202020204" pitchFamily="34" charset="0"/>
                <a:ea typeface="Aptos" panose="020B0004020202020204" pitchFamily="34" charset="0"/>
                <a:cs typeface="Times New Roman" panose="02020603050405020304" pitchFamily="18" charset="0"/>
              </a:rPr>
              <a:t> by making the car dynamic cg move </a:t>
            </a:r>
            <a:r>
              <a:rPr lang="en-US" sz="1200" kern="100" err="1">
                <a:effectLst/>
                <a:latin typeface="Aptos" panose="020B0004020202020204" pitchFamily="34" charset="0"/>
                <a:ea typeface="Aptos" panose="020B0004020202020204" pitchFamily="34" charset="0"/>
                <a:cs typeface="Times New Roman" panose="02020603050405020304" pitchFamily="18" charset="0"/>
              </a:rPr>
              <a:t>foreward</a:t>
            </a:r>
            <a:r>
              <a:rPr lang="en-US" sz="1200" kern="100">
                <a:effectLst/>
                <a:latin typeface="Aptos" panose="020B0004020202020204" pitchFamily="34" charset="0"/>
                <a:ea typeface="Aptos" panose="020B0004020202020204" pitchFamily="34" charset="0"/>
                <a:cs typeface="Times New Roman" panose="02020603050405020304" pitchFamily="18" charset="0"/>
              </a:rPr>
              <a:t> as car moves quicker, tending to shift balance. (see saturation mapping) Lateral force is due to springs and tire grip</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Wheelbase = 1562, Track = 1200, Chassis Stiffness = 2297 Nm/deg (Rear roll 515)</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Brakes shift dynamic cg </a:t>
            </a:r>
            <a:r>
              <a:rPr lang="en-US" sz="1200" kern="100" err="1">
                <a:effectLst/>
                <a:latin typeface="Aptos" panose="020B0004020202020204" pitchFamily="34" charset="0"/>
                <a:ea typeface="Aptos" panose="020B0004020202020204" pitchFamily="34" charset="0"/>
                <a:cs typeface="Times New Roman" panose="02020603050405020304" pitchFamily="18" charset="0"/>
              </a:rPr>
              <a:t>foreward</a:t>
            </a:r>
            <a:r>
              <a:rPr lang="en-US" sz="1200" kern="100">
                <a:effectLst/>
                <a:latin typeface="Aptos" panose="020B0004020202020204" pitchFamily="34" charset="0"/>
                <a:ea typeface="Aptos" panose="020B0004020202020204" pitchFamily="34" charset="0"/>
                <a:cs typeface="Times New Roman" panose="02020603050405020304" pitchFamily="18" charset="0"/>
              </a:rPr>
              <a:t> and acceleration backwards causing dive and squat, also it loads the tire </a:t>
            </a:r>
            <a:r>
              <a:rPr lang="en-US" sz="1200" kern="100" err="1">
                <a:effectLst/>
                <a:latin typeface="Aptos" panose="020B0004020202020204" pitchFamily="34" charset="0"/>
                <a:ea typeface="Aptos" panose="020B0004020202020204" pitchFamily="34" charset="0"/>
                <a:cs typeface="Times New Roman" panose="02020603050405020304" pitchFamily="18" charset="0"/>
              </a:rPr>
              <a:t>eplipse</a:t>
            </a:r>
            <a:r>
              <a:rPr lang="en-US" sz="1200" kern="100">
                <a:effectLst/>
                <a:latin typeface="Aptos" panose="020B0004020202020204" pitchFamily="34" charset="0"/>
                <a:ea typeface="Aptos" panose="020B0004020202020204" pitchFamily="34" charset="0"/>
                <a:cs typeface="Times New Roman" panose="02020603050405020304" pitchFamily="18" charset="0"/>
              </a:rPr>
              <a:t> to have less lateral grip, we run anti dive for aero compliance and we have no anti squat</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Handling tends slight oversteer based on Cg synthesis and larger rear wheel rates accounting for cg, progressive rates allow slow breakaway of rear tires to get grip out of high speed turn exits</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DATA… Tire temps allowed camber adjustments up to our maximum which the drivers were comfortable with and then stopwatch allowed driver testing of </a:t>
            </a:r>
            <a:r>
              <a:rPr lang="en-US" sz="1200" kern="100" err="1">
                <a:effectLst/>
                <a:latin typeface="Aptos" panose="020B0004020202020204" pitchFamily="34" charset="0"/>
                <a:ea typeface="Aptos" panose="020B0004020202020204" pitchFamily="34" charset="0"/>
                <a:cs typeface="Times New Roman" panose="02020603050405020304" pitchFamily="18" charset="0"/>
              </a:rPr>
              <a:t>skidpads</a:t>
            </a:r>
            <a:r>
              <a:rPr lang="en-US" sz="1200" kern="100">
                <a:effectLst/>
                <a:latin typeface="Aptos" panose="020B0004020202020204" pitchFamily="34" charset="0"/>
                <a:ea typeface="Aptos" panose="020B0004020202020204" pitchFamily="34" charset="0"/>
                <a:cs typeface="Times New Roman" panose="02020603050405020304" pitchFamily="18" charset="0"/>
              </a:rPr>
              <a:t> and autocross with results and bias in tuning.</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Full </a:t>
            </a:r>
            <a:r>
              <a:rPr lang="en-US" sz="1200" kern="100" err="1">
                <a:effectLst/>
                <a:latin typeface="Aptos" panose="020B0004020202020204" pitchFamily="34" charset="0"/>
                <a:ea typeface="Aptos" panose="020B0004020202020204" pitchFamily="34" charset="0"/>
                <a:cs typeface="Times New Roman" panose="02020603050405020304" pitchFamily="18" charset="0"/>
              </a:rPr>
              <a:t>Vehicl</a:t>
            </a:r>
            <a:r>
              <a:rPr lang="en-US" sz="1200" kern="100">
                <a:effectLst/>
                <a:latin typeface="Aptos" panose="020B0004020202020204" pitchFamily="34" charset="0"/>
                <a:ea typeface="Aptos" panose="020B0004020202020204" pitchFamily="34" charset="0"/>
                <a:cs typeface="Times New Roman" panose="02020603050405020304" pitchFamily="18" charset="0"/>
              </a:rPr>
              <a:t> modeling occurred with 4 wheel coupled </a:t>
            </a:r>
            <a:r>
              <a:rPr lang="en-US" sz="1200" kern="100" err="1">
                <a:effectLst/>
                <a:latin typeface="Aptos" panose="020B0004020202020204" pitchFamily="34" charset="0"/>
                <a:ea typeface="Aptos" panose="020B0004020202020204" pitchFamily="34" charset="0"/>
                <a:cs typeface="Times New Roman" panose="02020603050405020304" pitchFamily="18" charset="0"/>
              </a:rPr>
              <a:t>pointmass</a:t>
            </a:r>
            <a:r>
              <a:rPr lang="en-US" sz="1200" kern="100">
                <a:effectLst/>
                <a:latin typeface="Aptos" panose="020B0004020202020204" pitchFamily="34" charset="0"/>
                <a:ea typeface="Aptos" panose="020B0004020202020204" pitchFamily="34" charset="0"/>
                <a:cs typeface="Times New Roman" panose="02020603050405020304" pitchFamily="18" charset="0"/>
              </a:rPr>
              <a:t> with MF5 Tires fitted to TCC data and custom steering and camber curves alongside aero. Also 4 wheel independent slip.</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3" name="TextBox 2">
            <a:extLst>
              <a:ext uri="{FF2B5EF4-FFF2-40B4-BE49-F238E27FC236}">
                <a16:creationId xmlns:a16="http://schemas.microsoft.com/office/drawing/2014/main" id="{F5F7CEC0-6368-65AC-CE1E-389AA047DFC9}"/>
              </a:ext>
            </a:extLst>
          </p:cNvPr>
          <p:cNvSpPr txBox="1"/>
          <p:nvPr/>
        </p:nvSpPr>
        <p:spPr>
          <a:xfrm>
            <a:off x="3651389" y="7124700"/>
            <a:ext cx="6087978" cy="8121390"/>
          </a:xfrm>
          <a:prstGeom prst="rect">
            <a:avLst/>
          </a:prstGeom>
          <a:noFill/>
        </p:spPr>
        <p:txBody>
          <a:bodyPr wrap="square">
            <a:spAutoFit/>
          </a:bodyPr>
          <a:lstStyle/>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Tires: R20s 16x7.5-10 for the cold temperature performance. Decided between LC0 and R20s as with LC0 being theoretically faster, the temperature operated better in the cold startup (see data)</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Final Setup =&gt; no toe f/r, 1.25deg front camber, 1.5 deg rear camber, 10-12psi range (See setup sheets)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Dynamic operation conditions, (see tire maps, slip maps, camber curves and temp data)</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In plane moments ???, have moments of tires summing to equal yaw in solver to seek equilibrium to get steady state (will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oversolve</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as tires break away after a point)</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Vertical rates and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dampenings</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(modeled as point in suspension calculations thus not modeled, but would serve as soften up the suspension in whole by adding a spring in series, didn’t have the best way to test these?</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Load sensitivity of .974 this is why we are running soft spring rates as our loading of normal force is to this power causing less mu for greater load. Temps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Size of tire chose the smallest for powertrain output and for lowest relaxation lengths. We do not spin tires throughout acceleration as we are running a smaller engine and lighter weight. Fits with goal of car.</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Tire data TCC eq, see eq</a:t>
            </a:r>
          </a:p>
        </p:txBody>
      </p:sp>
      <p:sp>
        <p:nvSpPr>
          <p:cNvPr id="6" name="TextBox 5">
            <a:extLst>
              <a:ext uri="{FF2B5EF4-FFF2-40B4-BE49-F238E27FC236}">
                <a16:creationId xmlns:a16="http://schemas.microsoft.com/office/drawing/2014/main" id="{5FA21E5B-66D8-0507-264F-4994CB96B981}"/>
              </a:ext>
            </a:extLst>
          </p:cNvPr>
          <p:cNvSpPr txBox="1"/>
          <p:nvPr/>
        </p:nvSpPr>
        <p:spPr>
          <a:xfrm>
            <a:off x="10051473" y="7124700"/>
            <a:ext cx="7658100" cy="10977557"/>
          </a:xfrm>
          <a:prstGeom prst="rect">
            <a:avLst/>
          </a:prstGeom>
          <a:noFill/>
        </p:spPr>
        <p:txBody>
          <a:bodyPr wrap="square">
            <a:spAutoFit/>
          </a:bodyPr>
          <a:lstStyle/>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Heave pitch roll, and warp, chassis is magnitude stiffer than our suspension setup based on our torsion test result in little warp, heave is targeted about 60mm of heave to satisfy the rules, squat from multiple years on engine platform does not squat a full 60 mm, largest heave is dive which is why we run 50% anti dive for aero, roll is expected about 3 deg of roll which is large amount of roll because of our soft springs allowing small offset of grip (see tire maps)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Tire loading, see spring rates and tire maps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Kinematics, see camber curves and points, front are similar to rear and small amounts of roll center migration, progressive rates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Expecting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alrger</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dive than squat and aero compensated anti dive of 50%, platform built on this for multiple years, no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antisquat</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Our entry and exit has not been bad in the past. Our drivers like the exit of the car and the rear outside tire being very grippy</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Compliances: NA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rn</a:t>
            </a:r>
            <a:endPar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Sping</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dampers, see rates and progressive rate allows the gradual slip on our rear tires coming out of turns where drivers can feel and control the break away</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Motion ratios, higher but compensated by stiffer springs and by better mounting, see rear node, mid beam bending of the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bellcrank</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was structurally sound</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Steering, 0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ackerman</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see geometry. Drivers love how the steering feels and the caster causing grip going around a hairpin</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Adjustability of toe/tie rods, bell cranks, springs, dampers, camber shims, and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rideheigt</a:t>
            </a:r>
            <a:endPar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Data, tire and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laptime</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collected to test trends of data. Simulation served as a baseline for design then field tested based on feedback and lap times. Have tire temp data. Modeling done as 2d front and rear kinematics, 3d dampening, 2d steering, all incorporated in the 4 wheel model. (will have code available.)</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3878133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14A3C-99C2-72EF-3FFB-607A424AB0B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DA3F4D-EA55-3C35-541F-234CEA37C5FF}"/>
              </a:ext>
            </a:extLst>
          </p:cNvPr>
          <p:cNvPicPr>
            <a:picLocks noChangeAspect="1"/>
          </p:cNvPicPr>
          <p:nvPr/>
        </p:nvPicPr>
        <p:blipFill>
          <a:blip r:embed="rId3"/>
          <a:stretch>
            <a:fillRect/>
          </a:stretch>
        </p:blipFill>
        <p:spPr>
          <a:xfrm>
            <a:off x="-174171" y="0"/>
            <a:ext cx="7574145" cy="6858000"/>
          </a:xfrm>
          <a:prstGeom prst="rect">
            <a:avLst/>
          </a:prstGeom>
        </p:spPr>
      </p:pic>
      <p:sp>
        <p:nvSpPr>
          <p:cNvPr id="2" name="TextBox 1">
            <a:extLst>
              <a:ext uri="{FF2B5EF4-FFF2-40B4-BE49-F238E27FC236}">
                <a16:creationId xmlns:a16="http://schemas.microsoft.com/office/drawing/2014/main" id="{597C6EB7-A53B-67BE-9E42-5FF45685414A}"/>
              </a:ext>
            </a:extLst>
          </p:cNvPr>
          <p:cNvSpPr txBox="1"/>
          <p:nvPr/>
        </p:nvSpPr>
        <p:spPr>
          <a:xfrm>
            <a:off x="-2589972" y="6858000"/>
            <a:ext cx="6097656" cy="10988329"/>
          </a:xfrm>
          <a:prstGeom prst="rect">
            <a:avLst/>
          </a:prstGeom>
          <a:noFill/>
        </p:spPr>
        <p:txBody>
          <a:bodyPr wrap="square">
            <a:spAutoFit/>
          </a:bodyPr>
          <a:lstStyle/>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Vehicle dynamic concepts: F= ma, M= &lt;400lbs and about 250kg with a light driver. Max A had an aggressive goal of 2 g based on tire theoretical grip, we measured with no aero 1.55 sustained and 1.96 peak and expect higher sustained. Our tire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coeeficient</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1.55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sustatined</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with more load it will increase</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CG location is rearward at about 55% rear biased with driver. Aero is front balanced at 60% front wheels. Both due to packaging of engine and turbulence of air. This is allowed to gradually shift cg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foreward</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by making the car dynamic cg move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foreward</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as car moves quicker, tending to shift balance. (see saturation mapping) Lateral force is due to springs and tire grip</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Wheelbase = 1562, Track = 1200, Chassis Stiffness = 2297 Nm/deg</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Brakes shift dynamic cg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foreward</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acceleration backwards causing dive and squat, also it loads the tire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eplipse</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to have less lateral grip, we run anti dive for aero compliance and we have no anti squat</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Handling tends slight oversteer based on Cg synthesis and larger rear wheel rates accounting for cg, progressive rates allow slow breakaway of rear tires to get grip out of high speed turn exits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DATA… Tire temps allowed camber adjustments up to our maximum which the drivers were comfortable with and then stopwatch allowed driver testing of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skidpads</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autocross with results and bias in tuning.</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Full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Vehicl</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modeling occurred with 4 wheel coupled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pointmass</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with MF5 Tires fitted to TCC data and custom steering and camber curves alongside aero. Also 4 wheel independent slip.</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p:txBody>
      </p:sp>
      <p:sp>
        <p:nvSpPr>
          <p:cNvPr id="3" name="TextBox 2">
            <a:extLst>
              <a:ext uri="{FF2B5EF4-FFF2-40B4-BE49-F238E27FC236}">
                <a16:creationId xmlns:a16="http://schemas.microsoft.com/office/drawing/2014/main" id="{E19E784B-BCDD-E549-1FD2-76CCE6B8B1B0}"/>
              </a:ext>
            </a:extLst>
          </p:cNvPr>
          <p:cNvSpPr txBox="1"/>
          <p:nvPr/>
        </p:nvSpPr>
        <p:spPr>
          <a:xfrm>
            <a:off x="7007484" y="723900"/>
            <a:ext cx="4778116" cy="5259645"/>
          </a:xfrm>
          <a:prstGeom prst="rect">
            <a:avLst/>
          </a:prstGeom>
          <a:noFill/>
        </p:spPr>
        <p:txBody>
          <a:bodyPr wrap="square">
            <a:spAutoFit/>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Tires: R20s 16x7.5-10 for the cold temperature performance. Decided between LC0 and R20s as with LC0 being theoretically faster, the temperature operated better in the cold startup (see data)</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Final Setup =&gt; no toe f/r, 1.25deg front camber, 1.5 deg rear camber, 10-12psi range (See setup sheets)</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Dynamic operation conditions, (see tire maps, slip maps, camber curves and temp data)</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In plane moments ???, have moments of tires summing to equal yaw in solver to seek equilibrium to get steady state (will </a:t>
            </a:r>
            <a:r>
              <a:rPr lang="en-US" sz="1200" kern="100" err="1">
                <a:effectLst/>
                <a:latin typeface="Aptos" panose="020B0004020202020204" pitchFamily="34" charset="0"/>
                <a:ea typeface="Aptos" panose="020B0004020202020204" pitchFamily="34" charset="0"/>
                <a:cs typeface="Times New Roman" panose="02020603050405020304" pitchFamily="18" charset="0"/>
              </a:rPr>
              <a:t>oversolve</a:t>
            </a:r>
            <a:r>
              <a:rPr lang="en-US" sz="1200" kern="100">
                <a:effectLst/>
                <a:latin typeface="Aptos" panose="020B0004020202020204" pitchFamily="34" charset="0"/>
                <a:ea typeface="Aptos" panose="020B0004020202020204" pitchFamily="34" charset="0"/>
                <a:cs typeface="Times New Roman" panose="02020603050405020304" pitchFamily="18" charset="0"/>
              </a:rPr>
              <a:t> as tires break away after a point)</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Vertical rates and </a:t>
            </a:r>
            <a:r>
              <a:rPr lang="en-US" sz="1200" kern="100" err="1">
                <a:effectLst/>
                <a:latin typeface="Aptos" panose="020B0004020202020204" pitchFamily="34" charset="0"/>
                <a:ea typeface="Aptos" panose="020B0004020202020204" pitchFamily="34" charset="0"/>
                <a:cs typeface="Times New Roman" panose="02020603050405020304" pitchFamily="18" charset="0"/>
              </a:rPr>
              <a:t>dampenings</a:t>
            </a:r>
            <a:r>
              <a:rPr lang="en-US" sz="1200" kern="100">
                <a:effectLst/>
                <a:latin typeface="Aptos" panose="020B0004020202020204" pitchFamily="34" charset="0"/>
                <a:ea typeface="Aptos" panose="020B0004020202020204" pitchFamily="34" charset="0"/>
                <a:cs typeface="Times New Roman" panose="02020603050405020304" pitchFamily="18" charset="0"/>
              </a:rPr>
              <a:t> (modeled as point in suspension calculations thus not modeled, but would serve as soften up the suspension in whole by adding a spring in series, didn’t have the best way to test these?</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Load sensitivity of .974 this is why we are running soft spring rates as our loading of normal force is to this power causing less mu for greater load. Temps</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Size of tire chose the smallest for powertrain output and for lowest relaxation lengths. We do not spin tires throughout acceleration as we are running a smaller engine and lighter weight. Fits with goal of car.</a:t>
            </a: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Tire data TCC eq, see eq</a:t>
            </a:r>
          </a:p>
        </p:txBody>
      </p:sp>
      <p:sp>
        <p:nvSpPr>
          <p:cNvPr id="6" name="TextBox 5">
            <a:extLst>
              <a:ext uri="{FF2B5EF4-FFF2-40B4-BE49-F238E27FC236}">
                <a16:creationId xmlns:a16="http://schemas.microsoft.com/office/drawing/2014/main" id="{F97A5131-8D3B-47AE-D102-800AF5D2E21A}"/>
              </a:ext>
            </a:extLst>
          </p:cNvPr>
          <p:cNvSpPr txBox="1"/>
          <p:nvPr/>
        </p:nvSpPr>
        <p:spPr>
          <a:xfrm>
            <a:off x="10051473" y="7124700"/>
            <a:ext cx="7658100" cy="10977557"/>
          </a:xfrm>
          <a:prstGeom prst="rect">
            <a:avLst/>
          </a:prstGeom>
          <a:noFill/>
        </p:spPr>
        <p:txBody>
          <a:bodyPr wrap="square">
            <a:spAutoFit/>
          </a:bodyPr>
          <a:lstStyle/>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Heave pitch roll, and warp, chassis is magnitude stiffer than our suspension setup based on our torsion test result in little warp, heave is targeted about 60mm of heave to satisfy the rules, squat from multiple years on engine platform does not squat a full 60 mm, largest heave is dive which is why we run 50% anti dive for aero, roll is expected about 3 deg of roll which is large amount of roll because of our soft springs allowing small offset of grip (see tire maps)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Tire loading, see spring rates and tire maps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Kinematics, see camber curves and points, front are similar to rear and small amounts of roll center migration, progressive rates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Expecting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alrger</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dive than squat and aero compensated anti dive of 50%, platform built on this for multiple years, no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antisquat</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Our entry and exit has not been bad in the past. Our drivers like the exit of the car and the rear outside tire being very grippy</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Compliances: NA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rn</a:t>
            </a:r>
            <a:endPar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Sping</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dampers, see rates and progressive rate allows the gradual slip on our rear tires coming out of turns where drivers can feel and control the break away</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Motion ratios, higher but compensated by stiffer springs and by better mounting, see rear node, mid beam bending of the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bellcrank</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was structurally sound</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Steering, 0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ackerman</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see geometry. Drivers love how the steering feels and the caster causing grip going around a hairpin</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Adjustability of toe/tie rods, bell cranks, springs, dampers, camber shims, and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rideheigt</a:t>
            </a:r>
            <a:endPar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Data, tire and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laptime</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collected to test trends of data. Simulation served as a baseline for design then field tested based on feedback and lap times. Have tire temp data. Modeling done as 2d front and rear kinematics, 3d dampening, 2d steering, all incorporated in the 4 wheel model. (will have code available.)</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164672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F6F2C-93AD-3E9C-4504-E820E70EEF4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F92A3A-4E78-3D87-080E-C89B12054C9F}"/>
              </a:ext>
            </a:extLst>
          </p:cNvPr>
          <p:cNvPicPr>
            <a:picLocks noChangeAspect="1"/>
          </p:cNvPicPr>
          <p:nvPr/>
        </p:nvPicPr>
        <p:blipFill>
          <a:blip r:embed="rId3"/>
          <a:srcRect r="8736"/>
          <a:stretch>
            <a:fillRect/>
          </a:stretch>
        </p:blipFill>
        <p:spPr>
          <a:xfrm>
            <a:off x="-468074" y="0"/>
            <a:ext cx="6912418" cy="6858000"/>
          </a:xfrm>
          <a:prstGeom prst="rect">
            <a:avLst/>
          </a:prstGeom>
        </p:spPr>
      </p:pic>
      <p:sp>
        <p:nvSpPr>
          <p:cNvPr id="2" name="TextBox 1">
            <a:extLst>
              <a:ext uri="{FF2B5EF4-FFF2-40B4-BE49-F238E27FC236}">
                <a16:creationId xmlns:a16="http://schemas.microsoft.com/office/drawing/2014/main" id="{B698DA80-18E7-495F-C04F-9334789CE60E}"/>
              </a:ext>
            </a:extLst>
          </p:cNvPr>
          <p:cNvSpPr txBox="1"/>
          <p:nvPr/>
        </p:nvSpPr>
        <p:spPr>
          <a:xfrm>
            <a:off x="-2589972" y="6858000"/>
            <a:ext cx="6097656" cy="10988329"/>
          </a:xfrm>
          <a:prstGeom prst="rect">
            <a:avLst/>
          </a:prstGeom>
          <a:noFill/>
        </p:spPr>
        <p:txBody>
          <a:bodyPr wrap="square">
            <a:spAutoFit/>
          </a:bodyPr>
          <a:lstStyle/>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Vehicle dynamic concepts: F= ma, M= &lt;400lbs and about 250kg with a light driver. Max A had an aggressive goal of 2 g based on tire theoretical grip, we measured with no aero 1.55 sustained and 1.96 peak and expect higher sustained. Our tire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coeeficient</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1.55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sustatined</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with more load it will increase</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CG location is rearward at about 55% rear biased with driver. Aero is front balanced at 60% front wheels. Both due to packaging of engine and turbulence of air. This is allowed to gradually shift cg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foreward</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by making the car dynamic cg move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foreward</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as car moves quicker, tending to shift balance. (see saturation mapping) Lateral force is due to springs and tire grip</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Wheelbase = 1562, Track = 1200, Chassis Stiffness = 2297 Nm/deg</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Brakes shift dynamic cg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foreward</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acceleration backwards causing dive and squat, also it loads the tire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eplipse</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to have less lateral grip, we run anti dive for aero compliance and we have no anti squat</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Handling tends slight oversteer based on Cg synthesis and larger rear wheel rates accounting for cg, progressive rates allow slow breakaway of rear tires to get grip out of high speed turn exits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DATA… Tire temps allowed camber adjustments up to our maximum which the drivers were comfortable with and then stopwatch allowed driver testing of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skidpads</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autocross with results and bias in tuning.</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Full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Vehicl</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modeling occurred with 4 wheel coupled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pointmass</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with MF5 Tires fitted to TCC data and custom steering and camber curves alongside aero. Also 4 wheel independent slip.</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p:txBody>
      </p:sp>
      <p:sp>
        <p:nvSpPr>
          <p:cNvPr id="3" name="TextBox 2">
            <a:extLst>
              <a:ext uri="{FF2B5EF4-FFF2-40B4-BE49-F238E27FC236}">
                <a16:creationId xmlns:a16="http://schemas.microsoft.com/office/drawing/2014/main" id="{328F31AE-81A1-23E9-6DC1-0380C1D2DEBF}"/>
              </a:ext>
            </a:extLst>
          </p:cNvPr>
          <p:cNvSpPr txBox="1"/>
          <p:nvPr/>
        </p:nvSpPr>
        <p:spPr>
          <a:xfrm>
            <a:off x="3651389" y="7124700"/>
            <a:ext cx="6087978" cy="8121390"/>
          </a:xfrm>
          <a:prstGeom prst="rect">
            <a:avLst/>
          </a:prstGeom>
          <a:noFill/>
        </p:spPr>
        <p:txBody>
          <a:bodyPr wrap="square">
            <a:spAutoFit/>
          </a:bodyPr>
          <a:lstStyle/>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Tires: R20s 16x7.5-10 for the cold temperature performance. Decided between LC0 and R20s as with LC0 being theoretically faster, the temperature operated better in the cold startup (see data)</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Final Setup =&gt; no toe f/r, 1.25deg front camber, 1.5 deg rear camber, 10-12psi range (See setup sheets)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Dynamic operation conditions, (see tire maps, slip maps, camber curves and temp data)</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In plane moments ???, have moments of tires summing to equal yaw in solver to seek equilibrium to get steady state (will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oversolve</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as tires break away after a point)</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Vertical rates and </a:t>
            </a:r>
            <a:r>
              <a:rPr lang="en-US" sz="1800"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dampenings</a:t>
            </a: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(modeled as point in suspension calculations thus not modeled, but would serve as soften up the suspension in whole by adding a spring in series, didn’t have the best way to test these?</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Load sensitivity of .974 this is why we are running soft spring rates as our loading of normal force is to this power causing less mu for greater load. Temps</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Size of tire chose the smallest for powertrain output and for lowest relaxation lengths. We do not spin tires throughout acceleration as we are running a smaller engine and lighter weight. Fits with goal of car.</a:t>
            </a:r>
          </a:p>
          <a:p>
            <a:pPr marL="0" marR="0">
              <a:lnSpc>
                <a:spcPct val="115000"/>
              </a:lnSpc>
              <a:spcAft>
                <a:spcPts val="800"/>
              </a:spcAft>
              <a:buNone/>
            </a:pPr>
            <a:r>
              <a:rPr lang="en-US" sz="1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Tire data TCC eq, see eq</a:t>
            </a:r>
          </a:p>
        </p:txBody>
      </p:sp>
      <p:sp>
        <p:nvSpPr>
          <p:cNvPr id="6" name="TextBox 5">
            <a:extLst>
              <a:ext uri="{FF2B5EF4-FFF2-40B4-BE49-F238E27FC236}">
                <a16:creationId xmlns:a16="http://schemas.microsoft.com/office/drawing/2014/main" id="{38235934-4959-8F40-76A3-BA688F037041}"/>
              </a:ext>
            </a:extLst>
          </p:cNvPr>
          <p:cNvSpPr txBox="1"/>
          <p:nvPr/>
        </p:nvSpPr>
        <p:spPr>
          <a:xfrm>
            <a:off x="6226629" y="228749"/>
            <a:ext cx="5863771" cy="6314293"/>
          </a:xfrm>
          <a:prstGeom prst="rect">
            <a:avLst/>
          </a:prstGeom>
          <a:noFill/>
        </p:spPr>
        <p:txBody>
          <a:bodyPr wrap="square">
            <a:spAutoFit/>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Heave pitch roll, and warp, chassis is magnitude stiffer than our suspension setup based on our torsion test result in little warp, heave is targeted about 60mm of heave to satisfy the rules, squat from multiple years on engine platform does not squat a full 60 mm, largest heave is dive which is why we run 50% anti dive for aero, roll is expected about 3 deg of roll which is large amount of roll because of our soft springs allowing small offset of grip (see tire maps)</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Tire loading, see spring rates and tire maps</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Kinematics, see camber curves and points, front are similar to rear and small amounts of roll center migration, progressive rates</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Expecting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alrger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dive than squat and aero compensated anti dive of 50%, platform built on this for multiple years, no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antisquat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Our entry and exit has not been bad in the past. Our drivers like the exit of the car and the rear outside tire being very grippy</a:t>
            </a:r>
          </a:p>
          <a:p>
            <a:pPr marL="0" marR="0">
              <a:lnSpc>
                <a:spcPct val="115000"/>
              </a:lnSpc>
              <a:spcAft>
                <a:spcPts val="800"/>
              </a:spcAft>
              <a:buNone/>
            </a:pP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Sping</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and dampers, see rates and progressive rate allows the gradual slip on our rear tires coming out of turns where drivers can feel and control the break away</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Motion ratios, higher but compensated by stiffer springs and by better mounting, see rear node, mid beam bending of the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bellcrank</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was structurally sound</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Steering, 0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ackerman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and see geometry. Drivers love how the steering feels and the caster causing grip going around a hairpin</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Adjustability of toe/tie rods, bell cranks, springs, dampers, camber shims, and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rideheigt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Data, tire and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laptime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collected to test trends of data. Simulation served as a baseline for design then field tested based on feedback and lap times. Have tire temp data. Modeling done as 2d front and rear kinematics, 3d dampening, 2d steering, all incorporated in the 4 wheel model. (will have code available.)</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540645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6D3A0-A0D6-1766-3F22-788C38491F9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875FB00-B9E6-840C-CC36-306BD8878B6C}"/>
              </a:ext>
            </a:extLst>
          </p:cNvPr>
          <p:cNvPicPr>
            <a:picLocks noChangeAspect="1"/>
          </p:cNvPicPr>
          <p:nvPr/>
        </p:nvPicPr>
        <p:blipFill>
          <a:blip r:embed="rId2"/>
          <a:stretch>
            <a:fillRect/>
          </a:stretch>
        </p:blipFill>
        <p:spPr>
          <a:xfrm>
            <a:off x="6678403" y="82670"/>
            <a:ext cx="5124145" cy="3556000"/>
          </a:xfrm>
          <a:prstGeom prst="rect">
            <a:avLst/>
          </a:prstGeom>
        </p:spPr>
      </p:pic>
      <p:sp>
        <p:nvSpPr>
          <p:cNvPr id="2" name="Title 1">
            <a:extLst>
              <a:ext uri="{FF2B5EF4-FFF2-40B4-BE49-F238E27FC236}">
                <a16:creationId xmlns:a16="http://schemas.microsoft.com/office/drawing/2014/main" id="{322F6F69-65EB-83F7-A771-28849C222045}"/>
              </a:ext>
            </a:extLst>
          </p:cNvPr>
          <p:cNvSpPr>
            <a:spLocks noGrp="1"/>
          </p:cNvSpPr>
          <p:nvPr>
            <p:ph type="title"/>
          </p:nvPr>
        </p:nvSpPr>
        <p:spPr>
          <a:xfrm>
            <a:off x="509455" y="264560"/>
            <a:ext cx="10515600" cy="656851"/>
          </a:xfrm>
        </p:spPr>
        <p:txBody>
          <a:bodyPr>
            <a:normAutofit fontScale="90000"/>
          </a:bodyPr>
          <a:lstStyle/>
          <a:p>
            <a:r>
              <a:rPr lang="en-US" sz="4100" b="1">
                <a:latin typeface="+mn-lt"/>
              </a:rPr>
              <a:t>Vehicle Dynamics Design Overview</a:t>
            </a:r>
          </a:p>
        </p:txBody>
      </p:sp>
      <p:sp>
        <p:nvSpPr>
          <p:cNvPr id="10" name="Content Placeholder 9">
            <a:extLst>
              <a:ext uri="{FF2B5EF4-FFF2-40B4-BE49-F238E27FC236}">
                <a16:creationId xmlns:a16="http://schemas.microsoft.com/office/drawing/2014/main" id="{25049CF6-642B-0784-D8AB-5B897E379162}"/>
              </a:ext>
            </a:extLst>
          </p:cNvPr>
          <p:cNvSpPr>
            <a:spLocks noGrp="1"/>
          </p:cNvSpPr>
          <p:nvPr>
            <p:ph sz="half" idx="1"/>
          </p:nvPr>
        </p:nvSpPr>
        <p:spPr>
          <a:xfrm>
            <a:off x="509455" y="821870"/>
            <a:ext cx="8070060" cy="4883789"/>
          </a:xfrm>
        </p:spPr>
        <p:txBody>
          <a:bodyPr lIns="91440" tIns="45720" rIns="91440" bIns="45720" anchor="t">
            <a:normAutofit lnSpcReduction="10000"/>
          </a:bodyPr>
          <a:lstStyle/>
          <a:p>
            <a:pPr marL="285115" indent="-285115"/>
            <a:r>
              <a:rPr lang="en-US" altLang="en-US" sz="1800" b="1" dirty="0"/>
              <a:t>Design</a:t>
            </a:r>
            <a:endParaRPr lang="en-US" altLang="en-US" sz="1600" b="1" dirty="0">
              <a:ea typeface="Calibri" panose="020F0502020204030204"/>
              <a:cs typeface="Calibri" panose="020F0502020204030204"/>
            </a:endParaRPr>
          </a:p>
          <a:p>
            <a:pPr marL="685165" lvl="1" indent="-227965"/>
            <a:r>
              <a:rPr lang="en-US" altLang="en-US" sz="1600" dirty="0"/>
              <a:t>Tire driven suspension design originating from Hoosier R20s</a:t>
            </a:r>
            <a:endParaRPr lang="en-US" altLang="en-US" sz="1600" dirty="0">
              <a:ea typeface="Calibri" panose="020F0502020204030204"/>
              <a:cs typeface="Calibri" panose="020F0502020204030204"/>
            </a:endParaRPr>
          </a:p>
          <a:p>
            <a:pPr marL="685165" lvl="1" indent="-227965"/>
            <a:r>
              <a:rPr lang="en-US" altLang="en-US" sz="1600" dirty="0"/>
              <a:t>Double wishbone architecture with front and rear pushrods                                   enabling controllable camber gain and motion ratio tuning</a:t>
            </a:r>
            <a:endParaRPr lang="en-US" altLang="en-US" sz="1600" dirty="0">
              <a:ea typeface="Calibri" panose="020F0502020204030204"/>
              <a:cs typeface="Calibri" panose="020F0502020204030204"/>
            </a:endParaRPr>
          </a:p>
          <a:p>
            <a:pPr marL="685165" lvl="1" indent="-227965"/>
            <a:r>
              <a:rPr lang="en-US" altLang="en-US" sz="1600" dirty="0"/>
              <a:t>Iteration on previous years geometry and dampening platforms</a:t>
            </a:r>
            <a:endParaRPr lang="en-US" altLang="en-US" sz="1600" dirty="0">
              <a:ea typeface="Calibri" panose="020F0502020204030204"/>
              <a:cs typeface="Calibri" panose="020F0502020204030204"/>
            </a:endParaRPr>
          </a:p>
          <a:p>
            <a:pPr marL="227965" indent="-227965"/>
            <a:r>
              <a:rPr lang="en-US" altLang="en-US" sz="1800" b="1" dirty="0"/>
              <a:t>Build</a:t>
            </a:r>
            <a:endParaRPr lang="en-US" altLang="en-US" sz="1800" b="1" dirty="0">
              <a:ea typeface="Calibri"/>
              <a:cs typeface="Calibri"/>
            </a:endParaRPr>
          </a:p>
          <a:p>
            <a:pPr marL="685165" lvl="1" indent="-227965"/>
            <a:r>
              <a:rPr lang="en-US" altLang="en-US" sz="1600" dirty="0"/>
              <a:t>Designed for easy manufacturability and hardware standardization</a:t>
            </a:r>
            <a:endParaRPr lang="en-US" altLang="en-US" sz="1600" dirty="0">
              <a:ea typeface="Calibri" panose="020F0502020204030204"/>
              <a:cs typeface="Calibri" panose="020F0502020204030204"/>
            </a:endParaRPr>
          </a:p>
          <a:p>
            <a:pPr marL="685165" lvl="1" indent="-227965"/>
            <a:r>
              <a:rPr lang="en-US" altLang="en-US" sz="1600" dirty="0"/>
              <a:t>Multiple jigs used to ensure accuracy in manufacturing</a:t>
            </a:r>
            <a:endParaRPr lang="en-US" altLang="en-US" sz="1600" dirty="0">
              <a:ea typeface="Calibri" panose="020F0502020204030204"/>
              <a:cs typeface="Calibri" panose="020F0502020204030204"/>
            </a:endParaRPr>
          </a:p>
          <a:p>
            <a:pPr marL="285115" indent="-285115"/>
            <a:r>
              <a:rPr lang="en-US" altLang="en-US" sz="1800" b="1" dirty="0"/>
              <a:t>Testing/Validation</a:t>
            </a:r>
            <a:endParaRPr lang="en-US" altLang="en-US" sz="1800" b="1" dirty="0">
              <a:ea typeface="Calibri"/>
              <a:cs typeface="Calibri"/>
            </a:endParaRPr>
          </a:p>
          <a:p>
            <a:pPr marL="685165" lvl="1" indent="-227965"/>
            <a:r>
              <a:rPr lang="en-US" altLang="en-US" sz="1600" dirty="0"/>
              <a:t>Car done early for structural shakedown and tuning</a:t>
            </a:r>
            <a:endParaRPr lang="en-US" altLang="en-US" sz="1600" dirty="0">
              <a:ea typeface="Calibri" panose="020F0502020204030204"/>
              <a:cs typeface="Calibri" panose="020F0502020204030204"/>
            </a:endParaRPr>
          </a:p>
          <a:p>
            <a:pPr marL="685165" lvl="1" indent="-227965"/>
            <a:r>
              <a:rPr lang="en-US" altLang="en-US" sz="1600" dirty="0"/>
              <a:t>Suspension setup sheets for each event</a:t>
            </a:r>
            <a:endParaRPr lang="en-US" altLang="en-US" sz="1600" dirty="0">
              <a:ea typeface="Calibri" panose="020F0502020204030204"/>
              <a:cs typeface="Calibri" panose="020F0502020204030204"/>
            </a:endParaRPr>
          </a:p>
          <a:p>
            <a:pPr marL="685165" lvl="1" indent="-227965"/>
            <a:r>
              <a:rPr lang="en-US" altLang="en-US" sz="1600" dirty="0"/>
              <a:t>Data acquisition systems including lap time, tire pyrometer, steering angle and 6-axis accelerometer to show speed, tire utilization, and </a:t>
            </a:r>
            <a:r>
              <a:rPr lang="en-US" altLang="en-US" sz="1600" dirty="0" err="1"/>
              <a:t>inputable</a:t>
            </a:r>
            <a:r>
              <a:rPr lang="en-US" altLang="en-US" sz="1600" dirty="0"/>
              <a:t> handling metrics</a:t>
            </a:r>
            <a:endParaRPr lang="en-US" altLang="en-US" sz="1600" dirty="0">
              <a:ea typeface="Calibri"/>
              <a:cs typeface="Calibri"/>
            </a:endParaRPr>
          </a:p>
          <a:p>
            <a:pPr marL="227965" indent="-227965"/>
            <a:r>
              <a:rPr lang="en-US" altLang="en-US" sz="1800" b="1" dirty="0"/>
              <a:t>Goals</a:t>
            </a:r>
            <a:endParaRPr lang="en-US" altLang="en-US" sz="2000" b="1" dirty="0">
              <a:ea typeface="Calibri" panose="020F0502020204030204"/>
              <a:cs typeface="Calibri" panose="020F0502020204030204"/>
            </a:endParaRPr>
          </a:p>
          <a:p>
            <a:pPr marL="685165" lvl="1" indent="-227965"/>
            <a:r>
              <a:rPr lang="en-US" altLang="en-US" sz="1600" dirty="0"/>
              <a:t>Target 2g lateral force from tires and 5.2s </a:t>
            </a:r>
            <a:r>
              <a:rPr lang="en-US" altLang="en-US" sz="1600" dirty="0" err="1"/>
              <a:t>skidpad</a:t>
            </a:r>
            <a:r>
              <a:rPr lang="en-US" altLang="en-US" sz="1600" dirty="0"/>
              <a:t> (no aero), 4.9s (aero)</a:t>
            </a:r>
            <a:endParaRPr lang="en-US" altLang="en-US" sz="1600" dirty="0">
              <a:ea typeface="Calibri" panose="020F0502020204030204"/>
              <a:cs typeface="Calibri" panose="020F0502020204030204"/>
            </a:endParaRPr>
          </a:p>
          <a:p>
            <a:pPr marL="685165" lvl="1" indent="-227965"/>
            <a:r>
              <a:rPr lang="en-US" altLang="en-US" sz="1600" dirty="0"/>
              <a:t>Steady state simulations to predict slight oversteer handling</a:t>
            </a:r>
            <a:endParaRPr lang="en-US" altLang="en-US" sz="1600" dirty="0">
              <a:ea typeface="Calibri" panose="020F0502020204030204"/>
              <a:cs typeface="Calibri" panose="020F0502020204030204"/>
            </a:endParaRPr>
          </a:p>
          <a:p>
            <a:pPr marL="685165" lvl="1" indent="-227965"/>
            <a:r>
              <a:rPr lang="en-US" altLang="en-US" sz="1600" dirty="0"/>
              <a:t>Quantify aero grip increases</a:t>
            </a:r>
            <a:endParaRPr lang="en-US" altLang="en-US" sz="1600" dirty="0">
              <a:highlight>
                <a:srgbClr val="FFFF00"/>
              </a:highlight>
              <a:ea typeface="Calibri" panose="020F0502020204030204"/>
              <a:cs typeface="Calibri" panose="020F0502020204030204"/>
            </a:endParaRPr>
          </a:p>
        </p:txBody>
      </p:sp>
      <p:pic>
        <p:nvPicPr>
          <p:cNvPr id="22" name="Picture 21">
            <a:extLst>
              <a:ext uri="{FF2B5EF4-FFF2-40B4-BE49-F238E27FC236}">
                <a16:creationId xmlns:a16="http://schemas.microsoft.com/office/drawing/2014/main" id="{731988B0-424C-A1CA-559C-1261620BBFC8}"/>
              </a:ext>
            </a:extLst>
          </p:cNvPr>
          <p:cNvPicPr>
            <a:picLocks noChangeAspect="1"/>
          </p:cNvPicPr>
          <p:nvPr/>
        </p:nvPicPr>
        <p:blipFill>
          <a:blip r:embed="rId3"/>
          <a:stretch>
            <a:fillRect/>
          </a:stretch>
        </p:blipFill>
        <p:spPr>
          <a:xfrm>
            <a:off x="9754733" y="2666400"/>
            <a:ext cx="2283384" cy="3062049"/>
          </a:xfrm>
          <a:prstGeom prst="rect">
            <a:avLst/>
          </a:prstGeom>
        </p:spPr>
      </p:pic>
    </p:spTree>
    <p:extLst>
      <p:ext uri="{BB962C8B-B14F-4D97-AF65-F5344CB8AC3E}">
        <p14:creationId xmlns:p14="http://schemas.microsoft.com/office/powerpoint/2010/main" val="629913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5E4C6-655C-6019-FF65-1556E191C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91A8B-A847-E7AC-1D88-09526B4FE5EB}"/>
              </a:ext>
            </a:extLst>
          </p:cNvPr>
          <p:cNvSpPr>
            <a:spLocks noGrp="1"/>
          </p:cNvSpPr>
          <p:nvPr>
            <p:ph type="title"/>
          </p:nvPr>
        </p:nvSpPr>
        <p:spPr>
          <a:xfrm>
            <a:off x="509455" y="264560"/>
            <a:ext cx="10515600" cy="656851"/>
          </a:xfrm>
        </p:spPr>
        <p:txBody>
          <a:bodyPr>
            <a:normAutofit fontScale="90000"/>
          </a:bodyPr>
          <a:lstStyle/>
          <a:p>
            <a:r>
              <a:rPr lang="en-US" sz="4100" b="1">
                <a:latin typeface="+mn-lt"/>
              </a:rPr>
              <a:t>Vehicle Dynamics Setup</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77E9FB55-751C-A205-732F-A0ED38A25A43}"/>
                  </a:ext>
                </a:extLst>
              </p:cNvPr>
              <p:cNvGraphicFramePr>
                <a:graphicFrameLocks noGrp="1"/>
              </p:cNvGraphicFramePr>
              <p:nvPr>
                <p:extLst>
                  <p:ext uri="{D42A27DB-BD31-4B8C-83A1-F6EECF244321}">
                    <p14:modId xmlns:p14="http://schemas.microsoft.com/office/powerpoint/2010/main" val="3116749763"/>
                  </p:ext>
                </p:extLst>
              </p:nvPr>
            </p:nvGraphicFramePr>
            <p:xfrm>
              <a:off x="558601" y="1440997"/>
              <a:ext cx="7468557" cy="3337560"/>
            </p:xfrm>
            <a:graphic>
              <a:graphicData uri="http://schemas.openxmlformats.org/drawingml/2006/table">
                <a:tbl>
                  <a:tblPr firstRow="1" bandRow="1">
                    <a:tableStyleId>{073A0DAA-6AF3-43AB-8588-CEC1D06C72B9}</a:tableStyleId>
                  </a:tblPr>
                  <a:tblGrid>
                    <a:gridCol w="2489519">
                      <a:extLst>
                        <a:ext uri="{9D8B030D-6E8A-4147-A177-3AD203B41FA5}">
                          <a16:colId xmlns:a16="http://schemas.microsoft.com/office/drawing/2014/main" val="2081628404"/>
                        </a:ext>
                      </a:extLst>
                    </a:gridCol>
                    <a:gridCol w="2489519">
                      <a:extLst>
                        <a:ext uri="{9D8B030D-6E8A-4147-A177-3AD203B41FA5}">
                          <a16:colId xmlns:a16="http://schemas.microsoft.com/office/drawing/2014/main" val="2129694717"/>
                        </a:ext>
                      </a:extLst>
                    </a:gridCol>
                    <a:gridCol w="2489519">
                      <a:extLst>
                        <a:ext uri="{9D8B030D-6E8A-4147-A177-3AD203B41FA5}">
                          <a16:colId xmlns:a16="http://schemas.microsoft.com/office/drawing/2014/main" val="4138841352"/>
                        </a:ext>
                      </a:extLst>
                    </a:gridCol>
                  </a:tblGrid>
                  <a:tr h="370840">
                    <a:tc>
                      <a:txBody>
                        <a:bodyPr/>
                        <a:lstStyle/>
                        <a:p>
                          <a:pPr algn="ctr"/>
                          <a:r>
                            <a:rPr lang="en-US" sz="1300"/>
                            <a:t>Suspension Parameters</a:t>
                          </a:r>
                        </a:p>
                      </a:txBody>
                      <a:tcPr>
                        <a:solidFill>
                          <a:srgbClr val="4A0D12"/>
                        </a:solidFill>
                      </a:tcPr>
                    </a:tc>
                    <a:tc>
                      <a:txBody>
                        <a:bodyPr/>
                        <a:lstStyle/>
                        <a:p>
                          <a:pPr algn="ctr"/>
                          <a:r>
                            <a:rPr lang="en-US" sz="1300"/>
                            <a:t>Front</a:t>
                          </a:r>
                        </a:p>
                      </a:txBody>
                      <a:tcPr>
                        <a:solidFill>
                          <a:srgbClr val="4A0D12"/>
                        </a:solidFill>
                      </a:tcPr>
                    </a:tc>
                    <a:tc>
                      <a:txBody>
                        <a:bodyPr/>
                        <a:lstStyle/>
                        <a:p>
                          <a:pPr algn="ctr"/>
                          <a:r>
                            <a:rPr lang="en-US" sz="1300"/>
                            <a:t>Rear</a:t>
                          </a:r>
                        </a:p>
                      </a:txBody>
                      <a:tcPr>
                        <a:solidFill>
                          <a:srgbClr val="4A0D12"/>
                        </a:solidFill>
                      </a:tcPr>
                    </a:tc>
                    <a:extLst>
                      <a:ext uri="{0D108BD9-81ED-4DB2-BD59-A6C34878D82A}">
                        <a16:rowId xmlns:a16="http://schemas.microsoft.com/office/drawing/2014/main" val="2820874733"/>
                      </a:ext>
                    </a:extLst>
                  </a:tr>
                  <a:tr h="370840">
                    <a:tc>
                      <a:txBody>
                        <a:bodyPr/>
                        <a:lstStyle/>
                        <a:p>
                          <a:pPr algn="ctr"/>
                          <a:r>
                            <a:rPr lang="en-US" sz="1300"/>
                            <a:t>Static Camber</a:t>
                          </a:r>
                        </a:p>
                      </a:txBody>
                      <a:tcPr/>
                    </a:tc>
                    <a:tc>
                      <a:txBody>
                        <a:bodyPr/>
                        <a:lstStyle/>
                        <a:p>
                          <a:pPr algn="ctr"/>
                          <a:r>
                            <a:rPr lang="en-US" sz="1300"/>
                            <a:t>-1.3 deg</a:t>
                          </a:r>
                        </a:p>
                      </a:txBody>
                      <a:tcPr/>
                    </a:tc>
                    <a:tc>
                      <a:txBody>
                        <a:bodyPr/>
                        <a:lstStyle/>
                        <a:p>
                          <a:pPr algn="ctr"/>
                          <a:r>
                            <a:rPr lang="en-US" sz="1300"/>
                            <a:t>-1.6 deg</a:t>
                          </a:r>
                        </a:p>
                      </a:txBody>
                      <a:tcPr/>
                    </a:tc>
                    <a:extLst>
                      <a:ext uri="{0D108BD9-81ED-4DB2-BD59-A6C34878D82A}">
                        <a16:rowId xmlns:a16="http://schemas.microsoft.com/office/drawing/2014/main" val="602464632"/>
                      </a:ext>
                    </a:extLst>
                  </a:tr>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300"/>
                            <a:t>Static Toe</a:t>
                          </a:r>
                        </a:p>
                      </a:txBody>
                      <a:tcPr/>
                    </a:tc>
                    <a:tc>
                      <a:txBody>
                        <a:bodyPr/>
                        <a:lstStyle/>
                        <a:p>
                          <a:pPr algn="ctr"/>
                          <a:r>
                            <a:rPr lang="en-US" sz="1300" dirty="0"/>
                            <a:t>0.deg in</a:t>
                          </a:r>
                        </a:p>
                      </a:txBody>
                      <a:tcPr/>
                    </a:tc>
                    <a:tc>
                      <a:txBody>
                        <a:bodyPr/>
                        <a:lstStyle/>
                        <a:p>
                          <a:pPr algn="ctr"/>
                          <a:r>
                            <a:rPr lang="en-US" sz="1300" dirty="0"/>
                            <a:t>0 deg in</a:t>
                          </a:r>
                        </a:p>
                      </a:txBody>
                      <a:tcPr/>
                    </a:tc>
                    <a:extLst>
                      <a:ext uri="{0D108BD9-81ED-4DB2-BD59-A6C34878D82A}">
                        <a16:rowId xmlns:a16="http://schemas.microsoft.com/office/drawing/2014/main" val="219797830"/>
                      </a:ext>
                    </a:extLst>
                  </a:tr>
                  <a:tr h="370840">
                    <a:tc>
                      <a:txBody>
                        <a:bodyPr/>
                        <a:lstStyle/>
                        <a:p>
                          <a:pPr algn="ctr"/>
                          <a:r>
                            <a:rPr lang="en-US" sz="1300"/>
                            <a:t>Tire Pressure</a:t>
                          </a:r>
                        </a:p>
                      </a:txBody>
                      <a:tcPr/>
                    </a:tc>
                    <a:tc>
                      <a:txBody>
                        <a:bodyPr/>
                        <a:lstStyle/>
                        <a:p>
                          <a:pPr algn="ctr"/>
                          <a:r>
                            <a:rPr lang="en-US" sz="1300"/>
                            <a:t>10 psi</a:t>
                          </a:r>
                        </a:p>
                      </a:txBody>
                      <a:tcPr/>
                    </a:tc>
                    <a:tc>
                      <a:txBody>
                        <a:bodyPr/>
                        <a:lstStyle/>
                        <a:p>
                          <a:pPr algn="ctr"/>
                          <a:r>
                            <a:rPr lang="en-US" sz="1300"/>
                            <a:t>10 psi</a:t>
                          </a:r>
                        </a:p>
                      </a:txBody>
                      <a:tcPr/>
                    </a:tc>
                    <a:extLst>
                      <a:ext uri="{0D108BD9-81ED-4DB2-BD59-A6C34878D82A}">
                        <a16:rowId xmlns:a16="http://schemas.microsoft.com/office/drawing/2014/main" val="511450510"/>
                      </a:ext>
                    </a:extLst>
                  </a:tr>
                  <a:tr h="370840">
                    <a:tc>
                      <a:txBody>
                        <a:bodyPr/>
                        <a:lstStyle/>
                        <a:p>
                          <a:pPr algn="ctr"/>
                          <a:r>
                            <a:rPr lang="en-US" sz="1300"/>
                            <a:t>Camber Gain Heave/Roll</a:t>
                          </a:r>
                        </a:p>
                      </a:txBody>
                      <a:tcPr/>
                    </a:tc>
                    <a:tc>
                      <a:txBody>
                        <a:bodyPr/>
                        <a:lstStyle/>
                        <a:p>
                          <a:pPr algn="ctr"/>
                          <a:r>
                            <a:rPr lang="en-US" sz="1300"/>
                            <a:t>-.076 deg/mm | .2 deg/deg</a:t>
                          </a:r>
                        </a:p>
                      </a:txBody>
                      <a:tcPr/>
                    </a:tc>
                    <a:tc>
                      <a:txBody>
                        <a:bodyPr/>
                        <a:lstStyle/>
                        <a:p>
                          <a:pPr algn="ctr"/>
                          <a:r>
                            <a:rPr lang="en-US" sz="1300"/>
                            <a:t>-.064 deg/mm | .25 deg/deg</a:t>
                          </a:r>
                        </a:p>
                      </a:txBody>
                      <a:tcPr/>
                    </a:tc>
                    <a:extLst>
                      <a:ext uri="{0D108BD9-81ED-4DB2-BD59-A6C34878D82A}">
                        <a16:rowId xmlns:a16="http://schemas.microsoft.com/office/drawing/2014/main" val="1773463935"/>
                      </a:ext>
                    </a:extLst>
                  </a:tr>
                  <a:tr h="370840">
                    <a:tc>
                      <a:txBody>
                        <a:bodyPr/>
                        <a:lstStyle/>
                        <a:p>
                          <a:pPr algn="ctr"/>
                          <a:r>
                            <a:rPr lang="en-US" sz="1300"/>
                            <a:t>RC height</a:t>
                          </a:r>
                          <a:endParaRPr lang="en-US" sz="1300" b="0"/>
                        </a:p>
                      </a:txBody>
                      <a:tcPr/>
                    </a:tc>
                    <a:tc>
                      <a:txBody>
                        <a:bodyPr/>
                        <a:lstStyle/>
                        <a:p>
                          <a:pPr algn="ctr"/>
                          <a:r>
                            <a:rPr lang="en-US" sz="1300"/>
                            <a:t>68.9 mm</a:t>
                          </a:r>
                        </a:p>
                      </a:txBody>
                      <a:tcPr/>
                    </a:tc>
                    <a:tc>
                      <a:txBody>
                        <a:bodyPr/>
                        <a:lstStyle/>
                        <a:p>
                          <a:pPr algn="ctr"/>
                          <a:r>
                            <a:rPr lang="en-US" sz="1300"/>
                            <a:t>69.9 mm</a:t>
                          </a:r>
                        </a:p>
                      </a:txBody>
                      <a:tcPr/>
                    </a:tc>
                    <a:extLst>
                      <a:ext uri="{0D108BD9-81ED-4DB2-BD59-A6C34878D82A}">
                        <a16:rowId xmlns:a16="http://schemas.microsoft.com/office/drawing/2014/main" val="954076936"/>
                      </a:ext>
                    </a:extLst>
                  </a:tr>
                  <a:tr h="370840">
                    <a:tc>
                      <a:txBody>
                        <a:bodyPr/>
                        <a:lstStyle/>
                        <a:p>
                          <a:pPr algn="ctr"/>
                          <a:r>
                            <a:rPr lang="en-US" sz="1300"/>
                            <a:t>Spring Stiffness/ Wheel Rate/ </a:t>
                          </a:r>
                          <a14:m>
                            <m:oMath xmlns:m="http://schemas.openxmlformats.org/officeDocument/2006/math">
                              <m:sSub>
                                <m:sSubPr>
                                  <m:ctrlPr>
                                    <a:rPr lang="en-US" sz="1300" b="0" i="1" smtClean="0">
                                      <a:latin typeface="Cambria Math" panose="02040503050406030204" pitchFamily="18" charset="0"/>
                                    </a:rPr>
                                  </m:ctrlPr>
                                </m:sSubPr>
                                <m:e>
                                  <m:r>
                                    <a:rPr lang="en-US" sz="1300" b="0" smtClean="0">
                                      <a:latin typeface="Cambria Math" panose="02040503050406030204" pitchFamily="18" charset="0"/>
                                    </a:rPr>
                                    <m:t>𝜔</m:t>
                                  </m:r>
                                </m:e>
                                <m:sub>
                                  <m:r>
                                    <a:rPr lang="en-US" sz="1300" b="0" smtClean="0">
                                      <a:latin typeface="Cambria Math" panose="02040503050406030204" pitchFamily="18" charset="0"/>
                                    </a:rPr>
                                    <m:t>𝑛</m:t>
                                  </m:r>
                                </m:sub>
                              </m:sSub>
                            </m:oMath>
                          </a14:m>
                          <a:endParaRPr lang="en-US" sz="1300" b="0"/>
                        </a:p>
                      </a:txBody>
                      <a:tcPr/>
                    </a:tc>
                    <a:tc>
                      <a:txBody>
                        <a:bodyPr/>
                        <a:lstStyle/>
                        <a:p>
                          <a:pPr algn="ctr"/>
                          <a:r>
                            <a:rPr lang="en-US" sz="1300"/>
                            <a:t>250 lbf/in|29 N/mm|</a:t>
                          </a:r>
                          <a:r>
                            <a:rPr lang="en-US" sz="1400"/>
                            <a:t>3.7hz</a:t>
                          </a:r>
                          <a:endParaRPr lang="en-US" sz="1300"/>
                        </a:p>
                      </a:txBody>
                      <a:tcPr/>
                    </a:tc>
                    <a:tc>
                      <a:txBody>
                        <a:bodyPr/>
                        <a:lstStyle/>
                        <a:p>
                          <a:pPr algn="ctr"/>
                          <a:r>
                            <a:rPr lang="en-US" sz="1300"/>
                            <a:t>450 lbf/in|42 N/mm|3.87hz</a:t>
                          </a:r>
                        </a:p>
                      </a:txBody>
                      <a:tcPr/>
                    </a:tc>
                    <a:extLst>
                      <a:ext uri="{0D108BD9-81ED-4DB2-BD59-A6C34878D82A}">
                        <a16:rowId xmlns:a16="http://schemas.microsoft.com/office/drawing/2014/main" val="608663678"/>
                      </a:ext>
                    </a:extLst>
                  </a:tr>
                  <a:tr h="370840">
                    <a:tc>
                      <a:txBody>
                        <a:bodyPr/>
                        <a:lstStyle/>
                        <a:p>
                          <a:pPr algn="ctr"/>
                          <a:r>
                            <a:rPr lang="en-US" sz="1300"/>
                            <a:t>Damping (% critical)</a:t>
                          </a:r>
                        </a:p>
                      </a:txBody>
                      <a:tcPr/>
                    </a:tc>
                    <a:tc>
                      <a:txBody>
                        <a:bodyPr/>
                        <a:lstStyle/>
                        <a:p>
                          <a:pPr algn="ctr"/>
                          <a:r>
                            <a:rPr lang="en-US" sz="1300"/>
                            <a:t>0.55 bump, 0.85 rebound</a:t>
                          </a:r>
                        </a:p>
                      </a:txBody>
                      <a:tcPr/>
                    </a:tc>
                    <a:tc>
                      <a:txBody>
                        <a:bodyPr/>
                        <a:lstStyle/>
                        <a:p>
                          <a:pPr algn="ctr"/>
                          <a:r>
                            <a:rPr lang="en-US" sz="1300"/>
                            <a:t>0.55 bump, 0.85 rebound</a:t>
                          </a:r>
                        </a:p>
                      </a:txBody>
                      <a:tcPr/>
                    </a:tc>
                    <a:extLst>
                      <a:ext uri="{0D108BD9-81ED-4DB2-BD59-A6C34878D82A}">
                        <a16:rowId xmlns:a16="http://schemas.microsoft.com/office/drawing/2014/main" val="1174237629"/>
                      </a:ext>
                    </a:extLst>
                  </a:tr>
                  <a:tr h="370840">
                    <a:tc>
                      <a:txBody>
                        <a:bodyPr/>
                        <a:lstStyle/>
                        <a:p>
                          <a:pPr algn="ctr"/>
                          <a:r>
                            <a:rPr lang="en-US" sz="1300" dirty="0"/>
                            <a:t>Anti-Geometry</a:t>
                          </a:r>
                        </a:p>
                      </a:txBody>
                      <a:tcPr/>
                    </a:tc>
                    <a:tc>
                      <a:txBody>
                        <a:bodyPr/>
                        <a:lstStyle/>
                        <a:p>
                          <a:pPr algn="ctr"/>
                          <a:r>
                            <a:rPr lang="en-US" sz="1300"/>
                            <a:t>50% Anti-Dive</a:t>
                          </a:r>
                        </a:p>
                      </a:txBody>
                      <a:tcPr/>
                    </a:tc>
                    <a:tc>
                      <a:txBody>
                        <a:bodyPr/>
                        <a:lstStyle/>
                        <a:p>
                          <a:pPr algn="ctr"/>
                          <a:r>
                            <a:rPr lang="en-US" sz="1300" dirty="0"/>
                            <a:t>0% Anti-Squat</a:t>
                          </a:r>
                        </a:p>
                      </a:txBody>
                      <a:tcPr/>
                    </a:tc>
                    <a:extLst>
                      <a:ext uri="{0D108BD9-81ED-4DB2-BD59-A6C34878D82A}">
                        <a16:rowId xmlns:a16="http://schemas.microsoft.com/office/drawing/2014/main" val="3149472106"/>
                      </a:ext>
                    </a:extLst>
                  </a:tr>
                </a:tbl>
              </a:graphicData>
            </a:graphic>
          </p:graphicFrame>
        </mc:Choice>
        <mc:Fallback xmlns="">
          <p:graphicFrame>
            <p:nvGraphicFramePr>
              <p:cNvPr id="9" name="Table 8">
                <a:extLst>
                  <a:ext uri="{FF2B5EF4-FFF2-40B4-BE49-F238E27FC236}">
                    <a16:creationId xmlns:a16="http://schemas.microsoft.com/office/drawing/2014/main" id="{77E9FB55-751C-A205-732F-A0ED38A25A43}"/>
                  </a:ext>
                </a:extLst>
              </p:cNvPr>
              <p:cNvGraphicFramePr>
                <a:graphicFrameLocks noGrp="1"/>
              </p:cNvGraphicFramePr>
              <p:nvPr>
                <p:extLst>
                  <p:ext uri="{D42A27DB-BD31-4B8C-83A1-F6EECF244321}">
                    <p14:modId xmlns:p14="http://schemas.microsoft.com/office/powerpoint/2010/main" val="3116749763"/>
                  </p:ext>
                </p:extLst>
              </p:nvPr>
            </p:nvGraphicFramePr>
            <p:xfrm>
              <a:off x="558601" y="1440997"/>
              <a:ext cx="7468557" cy="3337560"/>
            </p:xfrm>
            <a:graphic>
              <a:graphicData uri="http://schemas.openxmlformats.org/drawingml/2006/table">
                <a:tbl>
                  <a:tblPr firstRow="1" bandRow="1">
                    <a:tableStyleId>{073A0DAA-6AF3-43AB-8588-CEC1D06C72B9}</a:tableStyleId>
                  </a:tblPr>
                  <a:tblGrid>
                    <a:gridCol w="2489519">
                      <a:extLst>
                        <a:ext uri="{9D8B030D-6E8A-4147-A177-3AD203B41FA5}">
                          <a16:colId xmlns:a16="http://schemas.microsoft.com/office/drawing/2014/main" val="2081628404"/>
                        </a:ext>
                      </a:extLst>
                    </a:gridCol>
                    <a:gridCol w="2489519">
                      <a:extLst>
                        <a:ext uri="{9D8B030D-6E8A-4147-A177-3AD203B41FA5}">
                          <a16:colId xmlns:a16="http://schemas.microsoft.com/office/drawing/2014/main" val="2129694717"/>
                        </a:ext>
                      </a:extLst>
                    </a:gridCol>
                    <a:gridCol w="2489519">
                      <a:extLst>
                        <a:ext uri="{9D8B030D-6E8A-4147-A177-3AD203B41FA5}">
                          <a16:colId xmlns:a16="http://schemas.microsoft.com/office/drawing/2014/main" val="4138841352"/>
                        </a:ext>
                      </a:extLst>
                    </a:gridCol>
                  </a:tblGrid>
                  <a:tr h="370840">
                    <a:tc>
                      <a:txBody>
                        <a:bodyPr/>
                        <a:lstStyle/>
                        <a:p>
                          <a:pPr algn="ctr"/>
                          <a:r>
                            <a:rPr lang="en-US" sz="1300"/>
                            <a:t>Suspension Parameters</a:t>
                          </a:r>
                        </a:p>
                      </a:txBody>
                      <a:tcPr>
                        <a:solidFill>
                          <a:srgbClr val="4A0D12"/>
                        </a:solidFill>
                      </a:tcPr>
                    </a:tc>
                    <a:tc>
                      <a:txBody>
                        <a:bodyPr/>
                        <a:lstStyle/>
                        <a:p>
                          <a:pPr algn="ctr"/>
                          <a:r>
                            <a:rPr lang="en-US" sz="1300"/>
                            <a:t>Front</a:t>
                          </a:r>
                        </a:p>
                      </a:txBody>
                      <a:tcPr>
                        <a:solidFill>
                          <a:srgbClr val="4A0D12"/>
                        </a:solidFill>
                      </a:tcPr>
                    </a:tc>
                    <a:tc>
                      <a:txBody>
                        <a:bodyPr/>
                        <a:lstStyle/>
                        <a:p>
                          <a:pPr algn="ctr"/>
                          <a:r>
                            <a:rPr lang="en-US" sz="1300"/>
                            <a:t>Rear</a:t>
                          </a:r>
                        </a:p>
                      </a:txBody>
                      <a:tcPr>
                        <a:solidFill>
                          <a:srgbClr val="4A0D12"/>
                        </a:solidFill>
                      </a:tcPr>
                    </a:tc>
                    <a:extLst>
                      <a:ext uri="{0D108BD9-81ED-4DB2-BD59-A6C34878D82A}">
                        <a16:rowId xmlns:a16="http://schemas.microsoft.com/office/drawing/2014/main" val="2820874733"/>
                      </a:ext>
                    </a:extLst>
                  </a:tr>
                  <a:tr h="370840">
                    <a:tc>
                      <a:txBody>
                        <a:bodyPr/>
                        <a:lstStyle/>
                        <a:p>
                          <a:pPr algn="ctr"/>
                          <a:r>
                            <a:rPr lang="en-US" sz="1300"/>
                            <a:t>Static Camber</a:t>
                          </a:r>
                        </a:p>
                      </a:txBody>
                      <a:tcPr/>
                    </a:tc>
                    <a:tc>
                      <a:txBody>
                        <a:bodyPr/>
                        <a:lstStyle/>
                        <a:p>
                          <a:pPr algn="ctr"/>
                          <a:r>
                            <a:rPr lang="en-US" sz="1300"/>
                            <a:t>-1.3 deg</a:t>
                          </a:r>
                        </a:p>
                      </a:txBody>
                      <a:tcPr/>
                    </a:tc>
                    <a:tc>
                      <a:txBody>
                        <a:bodyPr/>
                        <a:lstStyle/>
                        <a:p>
                          <a:pPr algn="ctr"/>
                          <a:r>
                            <a:rPr lang="en-US" sz="1300"/>
                            <a:t>-1.6 deg</a:t>
                          </a:r>
                        </a:p>
                      </a:txBody>
                      <a:tcPr/>
                    </a:tc>
                    <a:extLst>
                      <a:ext uri="{0D108BD9-81ED-4DB2-BD59-A6C34878D82A}">
                        <a16:rowId xmlns:a16="http://schemas.microsoft.com/office/drawing/2014/main" val="602464632"/>
                      </a:ext>
                    </a:extLst>
                  </a:tr>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300"/>
                            <a:t>Static Toe</a:t>
                          </a:r>
                        </a:p>
                      </a:txBody>
                      <a:tcPr/>
                    </a:tc>
                    <a:tc>
                      <a:txBody>
                        <a:bodyPr/>
                        <a:lstStyle/>
                        <a:p>
                          <a:pPr algn="ctr"/>
                          <a:r>
                            <a:rPr lang="en-US" sz="1300"/>
                            <a:t>0.deg in</a:t>
                          </a:r>
                        </a:p>
                      </a:txBody>
                      <a:tcPr/>
                    </a:tc>
                    <a:tc>
                      <a:txBody>
                        <a:bodyPr/>
                        <a:lstStyle/>
                        <a:p>
                          <a:pPr algn="ctr"/>
                          <a:r>
                            <a:rPr lang="en-US" sz="1300"/>
                            <a:t>0 deg in</a:t>
                          </a:r>
                        </a:p>
                      </a:txBody>
                      <a:tcPr/>
                    </a:tc>
                    <a:extLst>
                      <a:ext uri="{0D108BD9-81ED-4DB2-BD59-A6C34878D82A}">
                        <a16:rowId xmlns:a16="http://schemas.microsoft.com/office/drawing/2014/main" val="219797830"/>
                      </a:ext>
                    </a:extLst>
                  </a:tr>
                  <a:tr h="370840">
                    <a:tc>
                      <a:txBody>
                        <a:bodyPr/>
                        <a:lstStyle/>
                        <a:p>
                          <a:pPr algn="ctr"/>
                          <a:r>
                            <a:rPr lang="en-US" sz="1300"/>
                            <a:t>Tire Pressure</a:t>
                          </a:r>
                        </a:p>
                      </a:txBody>
                      <a:tcPr/>
                    </a:tc>
                    <a:tc>
                      <a:txBody>
                        <a:bodyPr/>
                        <a:lstStyle/>
                        <a:p>
                          <a:pPr algn="ctr"/>
                          <a:r>
                            <a:rPr lang="en-US" sz="1300"/>
                            <a:t>10 psi</a:t>
                          </a:r>
                        </a:p>
                      </a:txBody>
                      <a:tcPr/>
                    </a:tc>
                    <a:tc>
                      <a:txBody>
                        <a:bodyPr/>
                        <a:lstStyle/>
                        <a:p>
                          <a:pPr algn="ctr"/>
                          <a:r>
                            <a:rPr lang="en-US" sz="1300"/>
                            <a:t>10 psi</a:t>
                          </a:r>
                        </a:p>
                      </a:txBody>
                      <a:tcPr/>
                    </a:tc>
                    <a:extLst>
                      <a:ext uri="{0D108BD9-81ED-4DB2-BD59-A6C34878D82A}">
                        <a16:rowId xmlns:a16="http://schemas.microsoft.com/office/drawing/2014/main" val="511450510"/>
                      </a:ext>
                    </a:extLst>
                  </a:tr>
                  <a:tr h="370840">
                    <a:tc>
                      <a:txBody>
                        <a:bodyPr/>
                        <a:lstStyle/>
                        <a:p>
                          <a:pPr algn="ctr"/>
                          <a:r>
                            <a:rPr lang="en-US" sz="1300"/>
                            <a:t>Camber Gain Heave/Roll</a:t>
                          </a:r>
                        </a:p>
                      </a:txBody>
                      <a:tcPr/>
                    </a:tc>
                    <a:tc>
                      <a:txBody>
                        <a:bodyPr/>
                        <a:lstStyle/>
                        <a:p>
                          <a:pPr algn="ctr"/>
                          <a:r>
                            <a:rPr lang="en-US" sz="1300"/>
                            <a:t>-.076 deg/mm | .2 deg/deg</a:t>
                          </a:r>
                        </a:p>
                      </a:txBody>
                      <a:tcPr/>
                    </a:tc>
                    <a:tc>
                      <a:txBody>
                        <a:bodyPr/>
                        <a:lstStyle/>
                        <a:p>
                          <a:pPr algn="ctr"/>
                          <a:r>
                            <a:rPr lang="en-US" sz="1300"/>
                            <a:t>-.064 deg/mm | .25 deg/deg</a:t>
                          </a:r>
                        </a:p>
                      </a:txBody>
                      <a:tcPr/>
                    </a:tc>
                    <a:extLst>
                      <a:ext uri="{0D108BD9-81ED-4DB2-BD59-A6C34878D82A}">
                        <a16:rowId xmlns:a16="http://schemas.microsoft.com/office/drawing/2014/main" val="1773463935"/>
                      </a:ext>
                    </a:extLst>
                  </a:tr>
                  <a:tr h="370840">
                    <a:tc>
                      <a:txBody>
                        <a:bodyPr/>
                        <a:lstStyle/>
                        <a:p>
                          <a:pPr algn="ctr"/>
                          <a:r>
                            <a:rPr lang="en-US" sz="1300"/>
                            <a:t>RC height</a:t>
                          </a:r>
                          <a:endParaRPr lang="en-US" sz="1300" b="0"/>
                        </a:p>
                      </a:txBody>
                      <a:tcPr/>
                    </a:tc>
                    <a:tc>
                      <a:txBody>
                        <a:bodyPr/>
                        <a:lstStyle/>
                        <a:p>
                          <a:pPr algn="ctr"/>
                          <a:r>
                            <a:rPr lang="en-US" sz="1300"/>
                            <a:t>68.9 mm</a:t>
                          </a:r>
                        </a:p>
                      </a:txBody>
                      <a:tcPr/>
                    </a:tc>
                    <a:tc>
                      <a:txBody>
                        <a:bodyPr/>
                        <a:lstStyle/>
                        <a:p>
                          <a:pPr algn="ctr"/>
                          <a:r>
                            <a:rPr lang="en-US" sz="1300"/>
                            <a:t>69.9 mm</a:t>
                          </a:r>
                        </a:p>
                      </a:txBody>
                      <a:tcPr/>
                    </a:tc>
                    <a:extLst>
                      <a:ext uri="{0D108BD9-81ED-4DB2-BD59-A6C34878D82A}">
                        <a16:rowId xmlns:a16="http://schemas.microsoft.com/office/drawing/2014/main" val="954076936"/>
                      </a:ext>
                    </a:extLst>
                  </a:tr>
                  <a:tr h="370840">
                    <a:tc>
                      <a:txBody>
                        <a:bodyPr/>
                        <a:lstStyle/>
                        <a:p>
                          <a:endParaRPr lang="en-US"/>
                        </a:p>
                      </a:txBody>
                      <a:tcPr>
                        <a:blipFill>
                          <a:blip r:embed="rId2"/>
                          <a:stretch>
                            <a:fillRect l="-244" t="-600000" r="-200733" b="-203279"/>
                          </a:stretch>
                        </a:blipFill>
                      </a:tcPr>
                    </a:tc>
                    <a:tc>
                      <a:txBody>
                        <a:bodyPr/>
                        <a:lstStyle/>
                        <a:p>
                          <a:pPr algn="ctr"/>
                          <a:r>
                            <a:rPr lang="en-US" sz="1300"/>
                            <a:t>250 lbf/in|29 N/mm|</a:t>
                          </a:r>
                          <a:r>
                            <a:rPr lang="en-US" sz="1400"/>
                            <a:t>3.7hz</a:t>
                          </a:r>
                          <a:endParaRPr lang="en-US" sz="1300"/>
                        </a:p>
                      </a:txBody>
                      <a:tcPr/>
                    </a:tc>
                    <a:tc>
                      <a:txBody>
                        <a:bodyPr/>
                        <a:lstStyle/>
                        <a:p>
                          <a:pPr algn="ctr"/>
                          <a:r>
                            <a:rPr lang="en-US" sz="1300"/>
                            <a:t>450 lbf/in|42 N/mm|3.87hz</a:t>
                          </a:r>
                        </a:p>
                      </a:txBody>
                      <a:tcPr/>
                    </a:tc>
                    <a:extLst>
                      <a:ext uri="{0D108BD9-81ED-4DB2-BD59-A6C34878D82A}">
                        <a16:rowId xmlns:a16="http://schemas.microsoft.com/office/drawing/2014/main" val="608663678"/>
                      </a:ext>
                    </a:extLst>
                  </a:tr>
                  <a:tr h="370840">
                    <a:tc>
                      <a:txBody>
                        <a:bodyPr/>
                        <a:lstStyle/>
                        <a:p>
                          <a:pPr algn="ctr"/>
                          <a:r>
                            <a:rPr lang="en-US" sz="1300"/>
                            <a:t>Damping (% critical)</a:t>
                          </a:r>
                        </a:p>
                      </a:txBody>
                      <a:tcPr/>
                    </a:tc>
                    <a:tc>
                      <a:txBody>
                        <a:bodyPr/>
                        <a:lstStyle/>
                        <a:p>
                          <a:pPr algn="ctr"/>
                          <a:r>
                            <a:rPr lang="en-US" sz="1300"/>
                            <a:t>0.55 bump, 0.85 rebound</a:t>
                          </a:r>
                        </a:p>
                      </a:txBody>
                      <a:tcPr/>
                    </a:tc>
                    <a:tc>
                      <a:txBody>
                        <a:bodyPr/>
                        <a:lstStyle/>
                        <a:p>
                          <a:pPr algn="ctr"/>
                          <a:r>
                            <a:rPr lang="en-US" sz="1300"/>
                            <a:t>0.55 bump, 0.85 rebound</a:t>
                          </a:r>
                        </a:p>
                      </a:txBody>
                      <a:tcPr/>
                    </a:tc>
                    <a:extLst>
                      <a:ext uri="{0D108BD9-81ED-4DB2-BD59-A6C34878D82A}">
                        <a16:rowId xmlns:a16="http://schemas.microsoft.com/office/drawing/2014/main" val="1174237629"/>
                      </a:ext>
                    </a:extLst>
                  </a:tr>
                  <a:tr h="370840">
                    <a:tc>
                      <a:txBody>
                        <a:bodyPr/>
                        <a:lstStyle/>
                        <a:p>
                          <a:pPr algn="ctr"/>
                          <a:r>
                            <a:rPr lang="en-US" sz="1300"/>
                            <a:t>Anti-Geometry</a:t>
                          </a:r>
                        </a:p>
                      </a:txBody>
                      <a:tcPr/>
                    </a:tc>
                    <a:tc>
                      <a:txBody>
                        <a:bodyPr/>
                        <a:lstStyle/>
                        <a:p>
                          <a:pPr algn="ctr"/>
                          <a:r>
                            <a:rPr lang="en-US" sz="1300"/>
                            <a:t>50% Anti-Dive</a:t>
                          </a:r>
                        </a:p>
                      </a:txBody>
                      <a:tcPr/>
                    </a:tc>
                    <a:tc>
                      <a:txBody>
                        <a:bodyPr/>
                        <a:lstStyle/>
                        <a:p>
                          <a:pPr algn="ctr"/>
                          <a:r>
                            <a:rPr lang="en-US" sz="1300"/>
                            <a:t>0% Anti-Squat</a:t>
                          </a:r>
                        </a:p>
                      </a:txBody>
                      <a:tcPr/>
                    </a:tc>
                    <a:extLst>
                      <a:ext uri="{0D108BD9-81ED-4DB2-BD59-A6C34878D82A}">
                        <a16:rowId xmlns:a16="http://schemas.microsoft.com/office/drawing/2014/main" val="3149472106"/>
                      </a:ext>
                    </a:extLst>
                  </a:tr>
                </a:tbl>
              </a:graphicData>
            </a:graphic>
          </p:graphicFrame>
        </mc:Fallback>
      </mc:AlternateContent>
      <p:graphicFrame>
        <p:nvGraphicFramePr>
          <p:cNvPr id="16" name="Table 15">
            <a:extLst>
              <a:ext uri="{FF2B5EF4-FFF2-40B4-BE49-F238E27FC236}">
                <a16:creationId xmlns:a16="http://schemas.microsoft.com/office/drawing/2014/main" id="{2F1907AE-E5FC-69D7-D05B-36E810C73B0A}"/>
              </a:ext>
            </a:extLst>
          </p:cNvPr>
          <p:cNvGraphicFramePr>
            <a:graphicFrameLocks noGrp="1"/>
          </p:cNvGraphicFramePr>
          <p:nvPr>
            <p:extLst>
              <p:ext uri="{D42A27DB-BD31-4B8C-83A1-F6EECF244321}">
                <p14:modId xmlns:p14="http://schemas.microsoft.com/office/powerpoint/2010/main" val="3452169851"/>
              </p:ext>
            </p:extLst>
          </p:nvPr>
        </p:nvGraphicFramePr>
        <p:xfrm>
          <a:off x="8946701" y="1507870"/>
          <a:ext cx="2847372" cy="3203813"/>
        </p:xfrm>
        <a:graphic>
          <a:graphicData uri="http://schemas.openxmlformats.org/drawingml/2006/table">
            <a:tbl>
              <a:tblPr firstRow="1" bandRow="1">
                <a:tableStyleId>{073A0DAA-6AF3-43AB-8588-CEC1D06C72B9}</a:tableStyleId>
              </a:tblPr>
              <a:tblGrid>
                <a:gridCol w="1423686">
                  <a:extLst>
                    <a:ext uri="{9D8B030D-6E8A-4147-A177-3AD203B41FA5}">
                      <a16:colId xmlns:a16="http://schemas.microsoft.com/office/drawing/2014/main" val="2699485622"/>
                    </a:ext>
                  </a:extLst>
                </a:gridCol>
                <a:gridCol w="1423686">
                  <a:extLst>
                    <a:ext uri="{9D8B030D-6E8A-4147-A177-3AD203B41FA5}">
                      <a16:colId xmlns:a16="http://schemas.microsoft.com/office/drawing/2014/main" val="1434636340"/>
                    </a:ext>
                  </a:extLst>
                </a:gridCol>
              </a:tblGrid>
              <a:tr h="388019">
                <a:tc gridSpan="2">
                  <a:txBody>
                    <a:bodyPr/>
                    <a:lstStyle/>
                    <a:p>
                      <a:pPr algn="ctr"/>
                      <a:r>
                        <a:rPr lang="en-US" sz="1300"/>
                        <a:t>Steering Parameters</a:t>
                      </a:r>
                    </a:p>
                  </a:txBody>
                  <a:tcPr>
                    <a:solidFill>
                      <a:srgbClr val="4A0D12"/>
                    </a:solidFill>
                  </a:tcPr>
                </a:tc>
                <a:tc hMerge="1">
                  <a:txBody>
                    <a:bodyPr/>
                    <a:lstStyle/>
                    <a:p>
                      <a:pPr algn="ctr"/>
                      <a:endParaRPr lang="en-US" sz="1300"/>
                    </a:p>
                  </a:txBody>
                  <a:tcPr>
                    <a:solidFill>
                      <a:srgbClr val="4A0D12"/>
                    </a:solidFill>
                  </a:tcPr>
                </a:tc>
                <a:extLst>
                  <a:ext uri="{0D108BD9-81ED-4DB2-BD59-A6C34878D82A}">
                    <a16:rowId xmlns:a16="http://schemas.microsoft.com/office/drawing/2014/main" val="3047414817"/>
                  </a:ext>
                </a:extLst>
              </a:tr>
              <a:tr h="388019">
                <a:tc>
                  <a:txBody>
                    <a:bodyPr/>
                    <a:lstStyle/>
                    <a:p>
                      <a:pPr algn="ctr"/>
                      <a:r>
                        <a:rPr lang="en-US" sz="1300"/>
                        <a:t>Caster</a:t>
                      </a:r>
                    </a:p>
                  </a:txBody>
                  <a:tcPr/>
                </a:tc>
                <a:tc>
                  <a:txBody>
                    <a:bodyPr/>
                    <a:lstStyle/>
                    <a:p>
                      <a:pPr algn="ctr"/>
                      <a:r>
                        <a:rPr lang="en-US" sz="1300"/>
                        <a:t>6.8 deg</a:t>
                      </a:r>
                    </a:p>
                  </a:txBody>
                  <a:tcPr/>
                </a:tc>
                <a:extLst>
                  <a:ext uri="{0D108BD9-81ED-4DB2-BD59-A6C34878D82A}">
                    <a16:rowId xmlns:a16="http://schemas.microsoft.com/office/drawing/2014/main" val="2379966985"/>
                  </a:ext>
                </a:extLst>
              </a:tr>
              <a:tr h="388019">
                <a:tc>
                  <a:txBody>
                    <a:bodyPr/>
                    <a:lstStyle/>
                    <a:p>
                      <a:pPr algn="ctr"/>
                      <a:r>
                        <a:rPr lang="en-US" sz="1300"/>
                        <a:t>Kingpin Inclination</a:t>
                      </a:r>
                    </a:p>
                  </a:txBody>
                  <a:tcPr/>
                </a:tc>
                <a:tc>
                  <a:txBody>
                    <a:bodyPr/>
                    <a:lstStyle/>
                    <a:p>
                      <a:pPr algn="ctr"/>
                      <a:r>
                        <a:rPr lang="en-US" sz="1300"/>
                        <a:t>4.1 deg</a:t>
                      </a:r>
                    </a:p>
                  </a:txBody>
                  <a:tcPr/>
                </a:tc>
                <a:extLst>
                  <a:ext uri="{0D108BD9-81ED-4DB2-BD59-A6C34878D82A}">
                    <a16:rowId xmlns:a16="http://schemas.microsoft.com/office/drawing/2014/main" val="1425470823"/>
                  </a:ext>
                </a:extLst>
              </a:tr>
              <a:tr h="388019">
                <a:tc>
                  <a:txBody>
                    <a:bodyPr/>
                    <a:lstStyle/>
                    <a:p>
                      <a:pPr algn="ctr"/>
                      <a:r>
                        <a:rPr lang="en-US" sz="1300"/>
                        <a:t>Scrub Radius</a:t>
                      </a:r>
                    </a:p>
                  </a:txBody>
                  <a:tcPr/>
                </a:tc>
                <a:tc>
                  <a:txBody>
                    <a:bodyPr/>
                    <a:lstStyle/>
                    <a:p>
                      <a:pPr algn="ctr"/>
                      <a:r>
                        <a:rPr lang="en-US" sz="1300"/>
                        <a:t>13.7 mm</a:t>
                      </a:r>
                    </a:p>
                  </a:txBody>
                  <a:tcPr/>
                </a:tc>
                <a:extLst>
                  <a:ext uri="{0D108BD9-81ED-4DB2-BD59-A6C34878D82A}">
                    <a16:rowId xmlns:a16="http://schemas.microsoft.com/office/drawing/2014/main" val="3698685277"/>
                  </a:ext>
                </a:extLst>
              </a:tr>
              <a:tr h="388019">
                <a:tc>
                  <a:txBody>
                    <a:bodyPr/>
                    <a:lstStyle/>
                    <a:p>
                      <a:pPr algn="ctr"/>
                      <a:r>
                        <a:rPr lang="en-US" sz="1300"/>
                        <a:t>Mechanical Trail</a:t>
                      </a:r>
                    </a:p>
                  </a:txBody>
                  <a:tcPr/>
                </a:tc>
                <a:tc>
                  <a:txBody>
                    <a:bodyPr/>
                    <a:lstStyle/>
                    <a:p>
                      <a:pPr algn="ctr"/>
                      <a:r>
                        <a:rPr lang="en-US" sz="1300"/>
                        <a:t>10 mm</a:t>
                      </a:r>
                    </a:p>
                  </a:txBody>
                  <a:tcPr/>
                </a:tc>
                <a:extLst>
                  <a:ext uri="{0D108BD9-81ED-4DB2-BD59-A6C34878D82A}">
                    <a16:rowId xmlns:a16="http://schemas.microsoft.com/office/drawing/2014/main" val="1314030933"/>
                  </a:ext>
                </a:extLst>
              </a:tr>
              <a:tr h="388019">
                <a:tc>
                  <a:txBody>
                    <a:bodyPr/>
                    <a:lstStyle/>
                    <a:p>
                      <a:pPr algn="ctr"/>
                      <a:r>
                        <a:rPr lang="en-US" sz="1300"/>
                        <a:t>Offset</a:t>
                      </a:r>
                    </a:p>
                  </a:txBody>
                  <a:tcPr/>
                </a:tc>
                <a:tc>
                  <a:txBody>
                    <a:bodyPr/>
                    <a:lstStyle/>
                    <a:p>
                      <a:pPr algn="ctr"/>
                      <a:r>
                        <a:rPr lang="en-US" sz="1300"/>
                        <a:t>37.9 mm</a:t>
                      </a:r>
                    </a:p>
                  </a:txBody>
                  <a:tcPr/>
                </a:tc>
                <a:extLst>
                  <a:ext uri="{0D108BD9-81ED-4DB2-BD59-A6C34878D82A}">
                    <a16:rowId xmlns:a16="http://schemas.microsoft.com/office/drawing/2014/main" val="1264711725"/>
                  </a:ext>
                </a:extLst>
              </a:tr>
              <a:tr h="388019">
                <a:tc>
                  <a:txBody>
                    <a:bodyPr/>
                    <a:lstStyle/>
                    <a:p>
                      <a:pPr algn="ctr"/>
                      <a:r>
                        <a:rPr lang="en-US" sz="1300"/>
                        <a:t>Ackermann</a:t>
                      </a:r>
                      <a:endParaRPr lang="en-US" sz="1300" b="0"/>
                    </a:p>
                  </a:txBody>
                  <a:tcPr/>
                </a:tc>
                <a:tc>
                  <a:txBody>
                    <a:bodyPr/>
                    <a:lstStyle/>
                    <a:p>
                      <a:pPr algn="ctr"/>
                      <a:r>
                        <a:rPr lang="en-US" sz="1300"/>
                        <a:t>0%</a:t>
                      </a:r>
                    </a:p>
                  </a:txBody>
                  <a:tcPr/>
                </a:tc>
                <a:extLst>
                  <a:ext uri="{0D108BD9-81ED-4DB2-BD59-A6C34878D82A}">
                    <a16:rowId xmlns:a16="http://schemas.microsoft.com/office/drawing/2014/main" val="2734515239"/>
                  </a:ext>
                </a:extLst>
              </a:tr>
              <a:tr h="388019">
                <a:tc>
                  <a:txBody>
                    <a:bodyPr/>
                    <a:lstStyle/>
                    <a:p>
                      <a:pPr algn="ctr"/>
                      <a:r>
                        <a:rPr lang="en-US" sz="1300" b="0"/>
                        <a:t>Bump Steer</a:t>
                      </a:r>
                    </a:p>
                  </a:txBody>
                  <a:tcPr/>
                </a:tc>
                <a:tc>
                  <a:txBody>
                    <a:bodyPr/>
                    <a:lstStyle/>
                    <a:p>
                      <a:pPr algn="ctr"/>
                      <a:r>
                        <a:rPr lang="en-US" sz="1300"/>
                        <a:t>0.01 deg/mm</a:t>
                      </a:r>
                    </a:p>
                  </a:txBody>
                  <a:tcPr/>
                </a:tc>
                <a:extLst>
                  <a:ext uri="{0D108BD9-81ED-4DB2-BD59-A6C34878D82A}">
                    <a16:rowId xmlns:a16="http://schemas.microsoft.com/office/drawing/2014/main" val="3043978032"/>
                  </a:ext>
                </a:extLst>
              </a:tr>
            </a:tbl>
          </a:graphicData>
        </a:graphic>
      </p:graphicFrame>
    </p:spTree>
    <p:extLst>
      <p:ext uri="{BB962C8B-B14F-4D97-AF65-F5344CB8AC3E}">
        <p14:creationId xmlns:p14="http://schemas.microsoft.com/office/powerpoint/2010/main" val="964612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9C990-395E-55C4-851D-B2EC900D5F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65616-3414-F25F-96C7-B813A9E8FE95}"/>
              </a:ext>
            </a:extLst>
          </p:cNvPr>
          <p:cNvSpPr>
            <a:spLocks noGrp="1"/>
          </p:cNvSpPr>
          <p:nvPr>
            <p:ph type="title"/>
          </p:nvPr>
        </p:nvSpPr>
        <p:spPr>
          <a:xfrm>
            <a:off x="509455" y="264560"/>
            <a:ext cx="10515600" cy="656851"/>
          </a:xfrm>
        </p:spPr>
        <p:txBody>
          <a:bodyPr>
            <a:normAutofit fontScale="90000"/>
          </a:bodyPr>
          <a:lstStyle/>
          <a:p>
            <a:r>
              <a:rPr lang="en-US" sz="4100" b="1">
                <a:latin typeface="+mn-lt"/>
              </a:rPr>
              <a:t>Vehicle Dynamics Tires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C9CAE67-9671-3F69-9781-1D0A04DC1733}"/>
                  </a:ext>
                </a:extLst>
              </p:cNvPr>
              <p:cNvSpPr>
                <a:spLocks noGrp="1"/>
              </p:cNvSpPr>
              <p:nvPr>
                <p:ph sz="half" idx="1"/>
              </p:nvPr>
            </p:nvSpPr>
            <p:spPr>
              <a:xfrm>
                <a:off x="403250" y="1093696"/>
                <a:ext cx="7067754" cy="4634753"/>
              </a:xfrm>
            </p:spPr>
            <p:txBody>
              <a:bodyPr/>
              <a:lstStyle/>
              <a:p>
                <a:r>
                  <a:rPr lang="en-US" sz="1600"/>
                  <a:t>Hoosier R20 16x7.5-10 (</a:t>
                </a:r>
                <a:r>
                  <a:rPr lang="en-US" altLang="en-US" sz="1600"/>
                  <a:t>3.19 kg/7.03 </a:t>
                </a:r>
                <a:r>
                  <a:rPr lang="en-US" altLang="en-US" sz="1600" err="1"/>
                  <a:t>lb</a:t>
                </a:r>
                <a:r>
                  <a:rPr lang="en-US" altLang="en-US" sz="1600"/>
                  <a:t>)</a:t>
                </a:r>
                <a:r>
                  <a:rPr lang="en-US" sz="1600"/>
                  <a:t>, OZ Magnesium Center-lock Wheels, (1.66 kg/ 3.66 </a:t>
                </a:r>
                <a:r>
                  <a:rPr lang="en-US" sz="1600" err="1"/>
                  <a:t>lb</a:t>
                </a:r>
                <a:r>
                  <a:rPr lang="en-US" sz="1600"/>
                  <a:t>), 22mm offset</a:t>
                </a:r>
              </a:p>
              <a:p>
                <a:r>
                  <a:rPr lang="en-US" sz="1600"/>
                  <a:t>Hand Tuned </a:t>
                </a:r>
                <a:r>
                  <a:rPr lang="en-US" sz="1600" err="1"/>
                  <a:t>Pacejka</a:t>
                </a:r>
                <a:r>
                  <a:rPr lang="en-US" sz="1600"/>
                  <a:t> formula to fit TCC data for lateral load and returning moment (plots in slip deg vs N or Nm)</a:t>
                </a:r>
              </a:p>
              <a:p>
                <a:pPr lvl="1"/>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𝐹</m:t>
                        </m:r>
                      </m:e>
                      <m:sub>
                        <m:r>
                          <a:rPr lang="en-US" sz="1600" i="1">
                            <a:latin typeface="Cambria Math" panose="02040503050406030204" pitchFamily="18" charset="0"/>
                          </a:rPr>
                          <m:t>𝑦</m:t>
                        </m:r>
                      </m:sub>
                    </m:sSub>
                    <m:r>
                      <m:rPr>
                        <m:nor/>
                      </m:rPr>
                      <a:rPr lang="en-US" sz="1600">
                        <a:latin typeface="Cambria Math" panose="02040503050406030204" pitchFamily="18" charset="0"/>
                      </a:rPr>
                      <m:t> =</m:t>
                    </m:r>
                    <m:r>
                      <m:rPr>
                        <m:nor/>
                      </m:rPr>
                      <a:rPr lang="en-US" sz="1600">
                        <a:latin typeface="Cambria Math" panose="02040503050406030204" pitchFamily="18" charset="0"/>
                      </a:rPr>
                      <m:t>D</m:t>
                    </m:r>
                    <m:r>
                      <m:rPr>
                        <m:nor/>
                      </m:rPr>
                      <a:rPr lang="en-US" sz="1600">
                        <a:latin typeface="Cambria Math" panose="02040503050406030204" pitchFamily="18" charset="0"/>
                      </a:rPr>
                      <m:t> </m:t>
                    </m:r>
                    <m:r>
                      <m:rPr>
                        <m:nor/>
                      </m:rPr>
                      <a:rPr lang="en-US" sz="1600">
                        <a:latin typeface="Cambria Math" panose="02040503050406030204" pitchFamily="18" charset="0"/>
                      </a:rPr>
                      <m:t>sin</m:t>
                    </m:r>
                    <m:d>
                      <m:dPr>
                        <m:ctrlPr>
                          <a:rPr lang="en-US" sz="1600" i="1">
                            <a:latin typeface="Cambria Math" panose="02040503050406030204" pitchFamily="18" charset="0"/>
                          </a:rPr>
                        </m:ctrlPr>
                      </m:dPr>
                      <m:e>
                        <m:r>
                          <m:rPr>
                            <m:nor/>
                          </m:rPr>
                          <a:rPr lang="en-US" sz="1600">
                            <a:latin typeface="Cambria Math" panose="02040503050406030204" pitchFamily="18" charset="0"/>
                          </a:rPr>
                          <m:t>C</m:t>
                        </m:r>
                        <m:r>
                          <m:rPr>
                            <m:nor/>
                          </m:rPr>
                          <a:rPr lang="en-US" sz="1600">
                            <a:latin typeface="Cambria Math" panose="02040503050406030204" pitchFamily="18" charset="0"/>
                          </a:rPr>
                          <m:t>  </m:t>
                        </m:r>
                        <m:r>
                          <m:rPr>
                            <m:nor/>
                          </m:rPr>
                          <a:rPr lang="en-US" sz="1600">
                            <a:latin typeface="Cambria Math" panose="02040503050406030204" pitchFamily="18" charset="0"/>
                          </a:rPr>
                          <m:t>arctan</m:t>
                        </m:r>
                        <m:d>
                          <m:dPr>
                            <m:ctrlPr>
                              <a:rPr lang="en-US" sz="1600" i="1">
                                <a:latin typeface="Cambria Math" panose="02040503050406030204" pitchFamily="18" charset="0"/>
                              </a:rPr>
                            </m:ctrlPr>
                          </m:dPr>
                          <m:e>
                            <m:r>
                              <m:rPr>
                                <m:nor/>
                              </m:rPr>
                              <a:rPr lang="en-US" sz="1600">
                                <a:latin typeface="Cambria Math" panose="02040503050406030204" pitchFamily="18" charset="0"/>
                              </a:rPr>
                              <m:t>Bα</m:t>
                            </m:r>
                            <m:r>
                              <m:rPr>
                                <m:nor/>
                              </m:rPr>
                              <a:rPr lang="en-US" sz="1600">
                                <a:latin typeface="Cambria Math" panose="02040503050406030204" pitchFamily="18" charset="0"/>
                              </a:rPr>
                              <m:t>− </m:t>
                            </m:r>
                            <m:r>
                              <m:rPr>
                                <m:nor/>
                              </m:rPr>
                              <a:rPr lang="en-US" sz="1600">
                                <a:latin typeface="Cambria Math" panose="02040503050406030204" pitchFamily="18" charset="0"/>
                              </a:rPr>
                              <m:t>E</m:t>
                            </m:r>
                            <m:d>
                              <m:dPr>
                                <m:ctrlPr>
                                  <a:rPr lang="en-US" sz="1600" i="1">
                                    <a:latin typeface="Cambria Math" panose="02040503050406030204" pitchFamily="18" charset="0"/>
                                  </a:rPr>
                                </m:ctrlPr>
                              </m:dPr>
                              <m:e>
                                <m:r>
                                  <m:rPr>
                                    <m:nor/>
                                  </m:rPr>
                                  <a:rPr lang="en-US" sz="1600">
                                    <a:latin typeface="Cambria Math" panose="02040503050406030204" pitchFamily="18" charset="0"/>
                                  </a:rPr>
                                  <m:t>Bα</m:t>
                                </m:r>
                                <m:r>
                                  <m:rPr>
                                    <m:nor/>
                                  </m:rPr>
                                  <a:rPr lang="en-US" sz="1600">
                                    <a:latin typeface="Cambria Math" panose="02040503050406030204" pitchFamily="18" charset="0"/>
                                  </a:rPr>
                                  <m:t>− </m:t>
                                </m:r>
                                <m:r>
                                  <m:rPr>
                                    <m:nor/>
                                  </m:rPr>
                                  <a:rPr lang="en-US" sz="1600">
                                    <a:latin typeface="Cambria Math" panose="02040503050406030204" pitchFamily="18" charset="0"/>
                                  </a:rPr>
                                  <m:t>arctan</m:t>
                                </m:r>
                                <m:d>
                                  <m:dPr>
                                    <m:ctrlPr>
                                      <a:rPr lang="en-US" sz="1600" i="1">
                                        <a:latin typeface="Cambria Math" panose="02040503050406030204" pitchFamily="18" charset="0"/>
                                      </a:rPr>
                                    </m:ctrlPr>
                                  </m:dPr>
                                  <m:e>
                                    <m:r>
                                      <m:rPr>
                                        <m:nor/>
                                      </m:rPr>
                                      <a:rPr lang="en-US" sz="1600">
                                        <a:latin typeface="Cambria Math" panose="02040503050406030204" pitchFamily="18" charset="0"/>
                                      </a:rPr>
                                      <m:t>Bα</m:t>
                                    </m:r>
                                  </m:e>
                                </m:d>
                              </m:e>
                            </m:d>
                          </m:e>
                        </m:d>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𝑣</m:t>
                        </m:r>
                      </m:sub>
                    </m:sSub>
                  </m:oMath>
                </a14:m>
                <a:endParaRPr lang="en-US" sz="1600" i="1">
                  <a:latin typeface="Cambria Math" panose="02040503050406030204" pitchFamily="18" charset="0"/>
                </a:endParaRPr>
              </a:p>
              <a:p>
                <a:pPr lvl="1"/>
                <a14:m>
                  <m:oMath xmlns:m="http://schemas.openxmlformats.org/officeDocument/2006/math">
                    <m:r>
                      <a:rPr lang="en-US" sz="1600" i="1">
                        <a:latin typeface="Cambria Math" panose="02040503050406030204" pitchFamily="18" charset="0"/>
                      </a:rPr>
                      <m:t>𝛼</m:t>
                    </m:r>
                    <m:r>
                      <a:rPr lang="en-US" sz="1600" i="1">
                        <a:latin typeface="Cambria Math" panose="02040503050406030204" pitchFamily="18" charset="0"/>
                      </a:rPr>
                      <m:t>=</m:t>
                    </m:r>
                    <m:r>
                      <a:rPr lang="en-US" sz="1600" i="1">
                        <a:latin typeface="Cambria Math" panose="02040503050406030204" pitchFamily="18" charset="0"/>
                      </a:rPr>
                      <m:t>𝛼</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𝐻</m:t>
                        </m:r>
                      </m:sub>
                    </m:sSub>
                    <m:r>
                      <a:rPr lang="en-US" sz="1600" i="1">
                        <a:latin typeface="Cambria Math" panose="02040503050406030204" pitchFamily="18" charset="0"/>
                      </a:rPr>
                      <m:t>,  </m:t>
                    </m:r>
                    <m:r>
                      <a:rPr lang="en-US" sz="1600" i="1">
                        <a:latin typeface="Cambria Math" panose="02040503050406030204" pitchFamily="18" charset="0"/>
                      </a:rPr>
                      <m:t>𝐵</m:t>
                    </m:r>
                    <m:r>
                      <a:rPr lang="en-US" sz="1600" i="1">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13</m:t>
                        </m:r>
                      </m:num>
                      <m:den>
                        <m:r>
                          <a:rPr lang="en-US" sz="1600" i="1">
                            <a:latin typeface="Cambria Math" panose="02040503050406030204" pitchFamily="18" charset="0"/>
                          </a:rPr>
                          <m:t>400</m:t>
                        </m:r>
                        <m:sSubSup>
                          <m:sSubSupPr>
                            <m:ctrlPr>
                              <a:rPr lang="en-US" sz="1600" i="1">
                                <a:latin typeface="Cambria Math" panose="02040503050406030204" pitchFamily="18" charset="0"/>
                              </a:rPr>
                            </m:ctrlPr>
                          </m:sSubSupPr>
                          <m:e>
                            <m:r>
                              <a:rPr lang="en-US" sz="1600" i="1">
                                <a:latin typeface="Cambria Math" panose="02040503050406030204" pitchFamily="18" charset="0"/>
                              </a:rPr>
                              <m:t>𝐹</m:t>
                            </m:r>
                          </m:e>
                          <m:sub>
                            <m:r>
                              <a:rPr lang="en-US" sz="1600" i="1">
                                <a:latin typeface="Cambria Math" panose="02040503050406030204" pitchFamily="18" charset="0"/>
                              </a:rPr>
                              <m:t>𝑁</m:t>
                            </m:r>
                          </m:sub>
                          <m:sup>
                            <m:r>
                              <a:rPr lang="en-US" sz="1600" i="1">
                                <a:latin typeface="Cambria Math" panose="02040503050406030204" pitchFamily="18" charset="0"/>
                              </a:rPr>
                              <m:t>0.2</m:t>
                            </m:r>
                          </m:sup>
                        </m:sSubSup>
                      </m:den>
                    </m:f>
                    <m:r>
                      <a:rPr lang="en-US" sz="1600" i="1">
                        <a:latin typeface="Cambria Math" panose="02040503050406030204" pitchFamily="18" charset="0"/>
                      </a:rPr>
                      <m:t>,  </m:t>
                    </m:r>
                    <m:r>
                      <a:rPr lang="en-US" sz="1600" i="1">
                        <a:latin typeface="Cambria Math" panose="02040503050406030204" pitchFamily="18" charset="0"/>
                      </a:rPr>
                      <m:t>𝐶</m:t>
                    </m:r>
                    <m:r>
                      <a:rPr lang="en-US" sz="1600" i="1">
                        <a:latin typeface="Cambria Math" panose="02040503050406030204" pitchFamily="18" charset="0"/>
                      </a:rPr>
                      <m:t>=1.3,  </m:t>
                    </m:r>
                    <m:r>
                      <a:rPr lang="en-US" sz="1600" i="1">
                        <a:latin typeface="Cambria Math" panose="02040503050406030204" pitchFamily="18" charset="0"/>
                      </a:rPr>
                      <m:t>𝐷</m:t>
                    </m:r>
                    <m:r>
                      <a:rPr lang="en-US" sz="1600" i="1">
                        <a:latin typeface="Cambria Math" panose="02040503050406030204" pitchFamily="18" charset="0"/>
                      </a:rPr>
                      <m:t>=3.2∗</m:t>
                    </m:r>
                    <m:sSubSup>
                      <m:sSubSupPr>
                        <m:ctrlPr>
                          <a:rPr lang="en-US" sz="1600" i="1">
                            <a:latin typeface="Cambria Math" panose="02040503050406030204" pitchFamily="18" charset="0"/>
                          </a:rPr>
                        </m:ctrlPr>
                      </m:sSubSupPr>
                      <m:e>
                        <m:r>
                          <a:rPr lang="en-US" sz="1600" i="1">
                            <a:latin typeface="Cambria Math" panose="02040503050406030204" pitchFamily="18" charset="0"/>
                          </a:rPr>
                          <m:t>𝐹</m:t>
                        </m:r>
                      </m:e>
                      <m:sub>
                        <m:r>
                          <a:rPr lang="en-US" sz="1600" i="1">
                            <a:latin typeface="Cambria Math" panose="02040503050406030204" pitchFamily="18" charset="0"/>
                          </a:rPr>
                          <m:t>𝑁</m:t>
                        </m:r>
                      </m:sub>
                      <m:sup>
                        <m:r>
                          <a:rPr lang="en-US" sz="1600" i="1">
                            <a:latin typeface="Cambria Math" panose="02040503050406030204" pitchFamily="18" charset="0"/>
                          </a:rPr>
                          <m:t>0.974</m:t>
                        </m:r>
                      </m:sup>
                    </m:sSubSup>
                    <m:r>
                      <a:rPr lang="en-US" sz="1600" i="1">
                        <a:latin typeface="Cambria Math" panose="02040503050406030204" pitchFamily="18" charset="0"/>
                      </a:rPr>
                      <m:t>,  </m:t>
                    </m:r>
                    <m:r>
                      <a:rPr lang="en-US" sz="1600" i="1">
                        <a:latin typeface="Cambria Math" panose="02040503050406030204" pitchFamily="18" charset="0"/>
                      </a:rPr>
                      <m:t>𝐸</m:t>
                    </m:r>
                    <m:r>
                      <a:rPr lang="en-US" sz="1600" i="1">
                        <a:latin typeface="Cambria Math" panose="02040503050406030204" pitchFamily="18" charset="0"/>
                      </a:rPr>
                      <m:t>=.97</m:t>
                    </m:r>
                  </m:oMath>
                </a14:m>
                <a:endParaRPr lang="en-US" sz="1600"/>
              </a:p>
              <a:p>
                <a:r>
                  <a:rPr lang="en-US" sz="1600"/>
                  <a:t>Originally selected over LC0 for low temp performance and has multi year tire platform design</a:t>
                </a:r>
              </a:p>
              <a:p>
                <a:r>
                  <a:rPr lang="en-US" sz="1600"/>
                  <a:t>Load sensitivity based on fit: .974, mild sensitivity at expected single tire load range 300-1200N</a:t>
                </a:r>
              </a:p>
              <a:p>
                <a:r>
                  <a:rPr lang="en-US" sz="1600"/>
                  <a:t>Expected Peak Tire peak grip of 2g with aero</a:t>
                </a:r>
              </a:p>
              <a:p>
                <a:r>
                  <a:rPr lang="en-US" altLang="en-US" sz="1600"/>
                  <a:t>Peak operating temperature range ~ 140 - 160 °F or ~ 60 - 70 °C</a:t>
                </a:r>
              </a:p>
              <a:p>
                <a:endParaRPr lang="en-US" sz="1600"/>
              </a:p>
              <a:p>
                <a:endParaRPr lang="en-US" sz="1600"/>
              </a:p>
            </p:txBody>
          </p:sp>
        </mc:Choice>
        <mc:Fallback xmlns="">
          <p:sp>
            <p:nvSpPr>
              <p:cNvPr id="10" name="Content Placeholder 9">
                <a:extLst>
                  <a:ext uri="{FF2B5EF4-FFF2-40B4-BE49-F238E27FC236}">
                    <a16:creationId xmlns:a16="http://schemas.microsoft.com/office/drawing/2014/main" id="{4C9CAE67-9671-3F69-9781-1D0A04DC1733}"/>
                  </a:ext>
                </a:extLst>
              </p:cNvPr>
              <p:cNvSpPr>
                <a:spLocks noGrp="1" noRot="1" noChangeAspect="1" noMove="1" noResize="1" noEditPoints="1" noAdjustHandles="1" noChangeArrowheads="1" noChangeShapeType="1" noTextEdit="1"/>
              </p:cNvSpPr>
              <p:nvPr>
                <p:ph sz="half" idx="1"/>
              </p:nvPr>
            </p:nvSpPr>
            <p:spPr>
              <a:xfrm>
                <a:off x="403250" y="1093696"/>
                <a:ext cx="7067754" cy="4634753"/>
              </a:xfrm>
              <a:blipFill>
                <a:blip r:embed="rId2"/>
                <a:stretch>
                  <a:fillRect l="-345" t="-920"/>
                </a:stretch>
              </a:blipFill>
            </p:spPr>
            <p:txBody>
              <a:bodyPr/>
              <a:lstStyle/>
              <a:p>
                <a:r>
                  <a:rPr lang="en-US">
                    <a:noFill/>
                  </a:rPr>
                  <a:t> </a:t>
                </a:r>
              </a:p>
            </p:txBody>
          </p:sp>
        </mc:Fallback>
      </mc:AlternateContent>
      <p:pic>
        <p:nvPicPr>
          <p:cNvPr id="19" name="Picture 18">
            <a:extLst>
              <a:ext uri="{FF2B5EF4-FFF2-40B4-BE49-F238E27FC236}">
                <a16:creationId xmlns:a16="http://schemas.microsoft.com/office/drawing/2014/main" id="{37C2ECF5-8D56-1DDA-3F37-CF97567545BD}"/>
              </a:ext>
            </a:extLst>
          </p:cNvPr>
          <p:cNvPicPr>
            <a:picLocks noChangeAspect="1"/>
          </p:cNvPicPr>
          <p:nvPr/>
        </p:nvPicPr>
        <p:blipFill>
          <a:blip r:embed="rId3"/>
          <a:stretch>
            <a:fillRect/>
          </a:stretch>
        </p:blipFill>
        <p:spPr>
          <a:xfrm>
            <a:off x="8433456" y="0"/>
            <a:ext cx="3598031" cy="2803606"/>
          </a:xfrm>
          <a:prstGeom prst="rect">
            <a:avLst/>
          </a:prstGeom>
        </p:spPr>
      </p:pic>
      <p:pic>
        <p:nvPicPr>
          <p:cNvPr id="21" name="Picture 20">
            <a:extLst>
              <a:ext uri="{FF2B5EF4-FFF2-40B4-BE49-F238E27FC236}">
                <a16:creationId xmlns:a16="http://schemas.microsoft.com/office/drawing/2014/main" id="{C99C5BA8-BCEA-0713-8950-802AE0C34E62}"/>
              </a:ext>
            </a:extLst>
          </p:cNvPr>
          <p:cNvPicPr>
            <a:picLocks noChangeAspect="1"/>
          </p:cNvPicPr>
          <p:nvPr/>
        </p:nvPicPr>
        <p:blipFill>
          <a:blip r:embed="rId4"/>
          <a:stretch>
            <a:fillRect/>
          </a:stretch>
        </p:blipFill>
        <p:spPr>
          <a:xfrm>
            <a:off x="8513462" y="2823062"/>
            <a:ext cx="3573550" cy="2803605"/>
          </a:xfrm>
          <a:prstGeom prst="rect">
            <a:avLst/>
          </a:prstGeom>
        </p:spPr>
      </p:pic>
      <p:sp>
        <p:nvSpPr>
          <p:cNvPr id="4" name="TextBox 3">
            <a:extLst>
              <a:ext uri="{FF2B5EF4-FFF2-40B4-BE49-F238E27FC236}">
                <a16:creationId xmlns:a16="http://schemas.microsoft.com/office/drawing/2014/main" id="{867EBFE4-12FE-BCD9-8D55-14CC69CF3DBE}"/>
              </a:ext>
            </a:extLst>
          </p:cNvPr>
          <p:cNvSpPr txBox="1"/>
          <p:nvPr/>
        </p:nvSpPr>
        <p:spPr>
          <a:xfrm>
            <a:off x="8361385" y="5607211"/>
            <a:ext cx="3877703" cy="461665"/>
          </a:xfrm>
          <a:prstGeom prst="rect">
            <a:avLst/>
          </a:prstGeom>
          <a:noFill/>
        </p:spPr>
        <p:txBody>
          <a:bodyPr wrap="square" rtlCol="0">
            <a:spAutoFit/>
          </a:bodyPr>
          <a:lstStyle/>
          <a:p>
            <a:r>
              <a:rPr lang="en-US" sz="1200"/>
              <a:t>(MZ: Moment about Z axis, FY: Lateral Force, SA: Slip Angle)</a:t>
            </a:r>
          </a:p>
          <a:p>
            <a:endParaRPr lang="en-US" sz="1200"/>
          </a:p>
        </p:txBody>
      </p:sp>
    </p:spTree>
    <p:extLst>
      <p:ext uri="{BB962C8B-B14F-4D97-AF65-F5344CB8AC3E}">
        <p14:creationId xmlns:p14="http://schemas.microsoft.com/office/powerpoint/2010/main" val="4073105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679F-E4F3-BF67-9798-9DE5A838384D}"/>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BB830FEE-A87C-5339-C08E-8E2F6AEEB4BA}"/>
              </a:ext>
            </a:extLst>
          </p:cNvPr>
          <p:cNvPicPr>
            <a:picLocks noChangeAspect="1"/>
          </p:cNvPicPr>
          <p:nvPr/>
        </p:nvPicPr>
        <p:blipFill>
          <a:blip r:embed="rId2"/>
          <a:stretch>
            <a:fillRect/>
          </a:stretch>
        </p:blipFill>
        <p:spPr>
          <a:xfrm>
            <a:off x="8569022" y="61444"/>
            <a:ext cx="3554073" cy="2605559"/>
          </a:xfrm>
          <a:prstGeom prst="rect">
            <a:avLst/>
          </a:prstGeom>
        </p:spPr>
      </p:pic>
      <p:sp>
        <p:nvSpPr>
          <p:cNvPr id="2" name="Title 1">
            <a:extLst>
              <a:ext uri="{FF2B5EF4-FFF2-40B4-BE49-F238E27FC236}">
                <a16:creationId xmlns:a16="http://schemas.microsoft.com/office/drawing/2014/main" id="{F61BD9A3-A9E1-BCAD-860B-C2419E97461C}"/>
              </a:ext>
            </a:extLst>
          </p:cNvPr>
          <p:cNvSpPr>
            <a:spLocks noGrp="1"/>
          </p:cNvSpPr>
          <p:nvPr>
            <p:ph type="title"/>
          </p:nvPr>
        </p:nvSpPr>
        <p:spPr>
          <a:xfrm>
            <a:off x="509455" y="264560"/>
            <a:ext cx="10515600" cy="656851"/>
          </a:xfrm>
        </p:spPr>
        <p:txBody>
          <a:bodyPr>
            <a:normAutofit fontScale="90000"/>
          </a:bodyPr>
          <a:lstStyle/>
          <a:p>
            <a:r>
              <a:rPr lang="en-US" sz="4100" b="1">
                <a:latin typeface="+mn-lt"/>
              </a:rPr>
              <a:t>Vehicle Dynamics Ride and Roll Rates</a:t>
            </a:r>
          </a:p>
        </p:txBody>
      </p:sp>
      <p:sp>
        <p:nvSpPr>
          <p:cNvPr id="10" name="Content Placeholder 9">
            <a:extLst>
              <a:ext uri="{FF2B5EF4-FFF2-40B4-BE49-F238E27FC236}">
                <a16:creationId xmlns:a16="http://schemas.microsoft.com/office/drawing/2014/main" id="{1059BC34-66C1-2D2B-9080-4C7959DFCB02}"/>
              </a:ext>
            </a:extLst>
          </p:cNvPr>
          <p:cNvSpPr>
            <a:spLocks noGrp="1"/>
          </p:cNvSpPr>
          <p:nvPr>
            <p:ph sz="half" idx="1"/>
          </p:nvPr>
        </p:nvSpPr>
        <p:spPr>
          <a:xfrm>
            <a:off x="838200" y="1093696"/>
            <a:ext cx="7265316" cy="4634753"/>
          </a:xfrm>
        </p:spPr>
        <p:txBody>
          <a:bodyPr/>
          <a:lstStyle/>
          <a:p>
            <a:r>
              <a:rPr lang="en-US" sz="2000" dirty="0"/>
              <a:t>Spring adjustability with 25 </a:t>
            </a:r>
            <a:r>
              <a:rPr lang="en-US" sz="2000" dirty="0" err="1"/>
              <a:t>lb</a:t>
            </a:r>
            <a:r>
              <a:rPr lang="en-US" sz="2000" dirty="0"/>
              <a:t>/in increments, waterjet </a:t>
            </a:r>
            <a:r>
              <a:rPr lang="en-US" sz="2000" dirty="0" err="1"/>
              <a:t>bellcranks</a:t>
            </a:r>
            <a:r>
              <a:rPr lang="en-US" sz="2000" dirty="0"/>
              <a:t>, and </a:t>
            </a:r>
            <a:r>
              <a:rPr lang="en-US" altLang="en-US" sz="2000" dirty="0" err="1"/>
              <a:t>Ohlins</a:t>
            </a:r>
            <a:r>
              <a:rPr lang="en-US" altLang="en-US" sz="2000" dirty="0"/>
              <a:t> TTX25 Mk2 4-way dampers.</a:t>
            </a:r>
            <a:endParaRPr lang="en-US" sz="2000" dirty="0"/>
          </a:p>
          <a:p>
            <a:r>
              <a:rPr lang="en-US" sz="2000" dirty="0"/>
              <a:t>Weights F/R 43/57 with driver and 40/60 static.</a:t>
            </a:r>
          </a:p>
          <a:p>
            <a:r>
              <a:rPr lang="en-US" sz="2000" dirty="0"/>
              <a:t>Progressive motion ratio.</a:t>
            </a:r>
          </a:p>
          <a:p>
            <a:r>
              <a:rPr lang="en-US" sz="2000" dirty="0"/>
              <a:t>Higher rear ratio than fronts, compensated by rear stiffer springs. </a:t>
            </a:r>
          </a:p>
          <a:p>
            <a:r>
              <a:rPr lang="en-US" sz="2000" dirty="0" err="1"/>
              <a:t>Skidpad</a:t>
            </a:r>
            <a:r>
              <a:rPr lang="en-US" sz="2000" dirty="0"/>
              <a:t> setup targets oversteer handling for driver preference. </a:t>
            </a:r>
          </a:p>
          <a:p>
            <a:r>
              <a:rPr lang="en-US" sz="1800" dirty="0"/>
              <a:t>With 43/57 split this leads to peak wheel rates of 29N/mm / 42 N/mm and peak natural frequencies of 3.7hz/3.87hz f/r. </a:t>
            </a:r>
          </a:p>
          <a:p>
            <a:pPr lvl="1"/>
            <a:r>
              <a:rPr lang="en-US" sz="1800" dirty="0"/>
              <a:t>Roll stiffness distribution is .414, in behind of CG dictating slight oversteer</a:t>
            </a:r>
          </a:p>
          <a:p>
            <a:pPr lvl="1"/>
            <a:r>
              <a:rPr lang="en-US" sz="1800" dirty="0"/>
              <a:t>Softer setup (without aero scaling) based on tire mild load sensitivity allowing higher load transfer with limited loss</a:t>
            </a:r>
          </a:p>
          <a:p>
            <a:pPr marL="0" indent="0">
              <a:buNone/>
            </a:pPr>
            <a:endParaRPr lang="en-US" sz="1400" dirty="0"/>
          </a:p>
        </p:txBody>
      </p:sp>
      <p:pic>
        <p:nvPicPr>
          <p:cNvPr id="22" name="Picture 21">
            <a:extLst>
              <a:ext uri="{FF2B5EF4-FFF2-40B4-BE49-F238E27FC236}">
                <a16:creationId xmlns:a16="http://schemas.microsoft.com/office/drawing/2014/main" id="{2EC460F9-1EB8-9CAC-BDBB-1019F078EB2B}"/>
              </a:ext>
            </a:extLst>
          </p:cNvPr>
          <p:cNvPicPr>
            <a:picLocks noChangeAspect="1"/>
          </p:cNvPicPr>
          <p:nvPr/>
        </p:nvPicPr>
        <p:blipFill>
          <a:blip r:embed="rId3"/>
          <a:srcRect l="845"/>
          <a:stretch>
            <a:fillRect/>
          </a:stretch>
        </p:blipFill>
        <p:spPr>
          <a:xfrm>
            <a:off x="8675322" y="2667003"/>
            <a:ext cx="3447773" cy="2641727"/>
          </a:xfrm>
          <a:prstGeom prst="rect">
            <a:avLst/>
          </a:prstGeom>
        </p:spPr>
      </p:pic>
      <p:sp>
        <p:nvSpPr>
          <p:cNvPr id="4" name="TextBox 3">
            <a:extLst>
              <a:ext uri="{FF2B5EF4-FFF2-40B4-BE49-F238E27FC236}">
                <a16:creationId xmlns:a16="http://schemas.microsoft.com/office/drawing/2014/main" id="{B21DD19E-6ACB-312C-B9A0-F32CD8C5E8BB}"/>
              </a:ext>
            </a:extLst>
          </p:cNvPr>
          <p:cNvSpPr txBox="1"/>
          <p:nvPr/>
        </p:nvSpPr>
        <p:spPr>
          <a:xfrm>
            <a:off x="9096073" y="5266342"/>
            <a:ext cx="2606270" cy="738664"/>
          </a:xfrm>
          <a:prstGeom prst="rect">
            <a:avLst/>
          </a:prstGeom>
          <a:noFill/>
        </p:spPr>
        <p:txBody>
          <a:bodyPr wrap="square" rtlCol="0">
            <a:spAutoFit/>
          </a:bodyPr>
          <a:lstStyle/>
          <a:p>
            <a:pPr algn="ctr"/>
            <a:r>
              <a:rPr lang="en-US" sz="1200"/>
              <a:t>(IMR: ratio of heave to damper travel) (Blue: Rears, Orange: Fronts)</a:t>
            </a:r>
          </a:p>
          <a:p>
            <a:endParaRPr lang="en-US"/>
          </a:p>
        </p:txBody>
      </p:sp>
    </p:spTree>
    <p:extLst>
      <p:ext uri="{BB962C8B-B14F-4D97-AF65-F5344CB8AC3E}">
        <p14:creationId xmlns:p14="http://schemas.microsoft.com/office/powerpoint/2010/main" val="3118303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947FB-EC5D-F134-30C3-B4F3214E66FF}"/>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E9099071-70B2-E526-90E2-7581275F92E8}"/>
              </a:ext>
            </a:extLst>
          </p:cNvPr>
          <p:cNvPicPr>
            <a:picLocks noChangeAspect="1"/>
          </p:cNvPicPr>
          <p:nvPr/>
        </p:nvPicPr>
        <p:blipFill>
          <a:blip r:embed="rId3"/>
          <a:srcRect l="10500" t="4365" r="15014" b="10042"/>
          <a:stretch>
            <a:fillRect/>
          </a:stretch>
        </p:blipFill>
        <p:spPr>
          <a:xfrm>
            <a:off x="5415853" y="307621"/>
            <a:ext cx="2917152" cy="2143420"/>
          </a:xfrm>
          <a:prstGeom prst="rect">
            <a:avLst/>
          </a:prstGeom>
        </p:spPr>
      </p:pic>
      <p:pic>
        <p:nvPicPr>
          <p:cNvPr id="24" name="Picture 23">
            <a:extLst>
              <a:ext uri="{FF2B5EF4-FFF2-40B4-BE49-F238E27FC236}">
                <a16:creationId xmlns:a16="http://schemas.microsoft.com/office/drawing/2014/main" id="{9408520B-E5D1-4ECD-34C2-4524557CC17E}"/>
              </a:ext>
            </a:extLst>
          </p:cNvPr>
          <p:cNvPicPr>
            <a:picLocks noChangeAspect="1"/>
          </p:cNvPicPr>
          <p:nvPr/>
        </p:nvPicPr>
        <p:blipFill>
          <a:blip r:embed="rId4"/>
          <a:stretch>
            <a:fillRect/>
          </a:stretch>
        </p:blipFill>
        <p:spPr>
          <a:xfrm>
            <a:off x="8736601" y="543313"/>
            <a:ext cx="3103961" cy="1520797"/>
          </a:xfrm>
          <a:prstGeom prst="rect">
            <a:avLst/>
          </a:prstGeom>
        </p:spPr>
      </p:pic>
      <p:sp>
        <p:nvSpPr>
          <p:cNvPr id="2" name="Title 1">
            <a:extLst>
              <a:ext uri="{FF2B5EF4-FFF2-40B4-BE49-F238E27FC236}">
                <a16:creationId xmlns:a16="http://schemas.microsoft.com/office/drawing/2014/main" id="{89A4C40A-595F-AB06-1025-594276C35CC0}"/>
              </a:ext>
            </a:extLst>
          </p:cNvPr>
          <p:cNvSpPr>
            <a:spLocks noGrp="1"/>
          </p:cNvSpPr>
          <p:nvPr>
            <p:ph type="title"/>
          </p:nvPr>
        </p:nvSpPr>
        <p:spPr>
          <a:xfrm>
            <a:off x="509455" y="264560"/>
            <a:ext cx="10515600" cy="656851"/>
          </a:xfrm>
        </p:spPr>
        <p:txBody>
          <a:bodyPr>
            <a:normAutofit fontScale="90000"/>
          </a:bodyPr>
          <a:lstStyle/>
          <a:p>
            <a:r>
              <a:rPr lang="en-US" sz="4100" b="1">
                <a:latin typeface="+mn-lt"/>
              </a:rPr>
              <a:t>Vehicle Dynamics Kinematics</a:t>
            </a:r>
          </a:p>
        </p:txBody>
      </p:sp>
      <p:pic>
        <p:nvPicPr>
          <p:cNvPr id="21" name="Picture 20">
            <a:extLst>
              <a:ext uri="{FF2B5EF4-FFF2-40B4-BE49-F238E27FC236}">
                <a16:creationId xmlns:a16="http://schemas.microsoft.com/office/drawing/2014/main" id="{C0224ED0-F9C9-CAF4-E4C9-5E9B677D8E35}"/>
              </a:ext>
            </a:extLst>
          </p:cNvPr>
          <p:cNvPicPr>
            <a:picLocks noChangeAspect="1"/>
          </p:cNvPicPr>
          <p:nvPr/>
        </p:nvPicPr>
        <p:blipFill>
          <a:blip r:embed="rId5"/>
          <a:stretch>
            <a:fillRect/>
          </a:stretch>
        </p:blipFill>
        <p:spPr>
          <a:xfrm>
            <a:off x="5472123" y="1926101"/>
            <a:ext cx="2740412" cy="2143419"/>
          </a:xfrm>
          <a:prstGeom prst="rect">
            <a:avLst/>
          </a:prstGeom>
        </p:spPr>
      </p:pic>
      <p:pic>
        <p:nvPicPr>
          <p:cNvPr id="26" name="Picture 25">
            <a:extLst>
              <a:ext uri="{FF2B5EF4-FFF2-40B4-BE49-F238E27FC236}">
                <a16:creationId xmlns:a16="http://schemas.microsoft.com/office/drawing/2014/main" id="{CDF0EA65-043A-3713-974A-B425F2A87869}"/>
              </a:ext>
            </a:extLst>
          </p:cNvPr>
          <p:cNvPicPr>
            <a:picLocks noChangeAspect="1"/>
          </p:cNvPicPr>
          <p:nvPr/>
        </p:nvPicPr>
        <p:blipFill>
          <a:blip r:embed="rId6"/>
          <a:stretch>
            <a:fillRect/>
          </a:stretch>
        </p:blipFill>
        <p:spPr>
          <a:xfrm>
            <a:off x="8785770" y="1952895"/>
            <a:ext cx="2688913" cy="2089829"/>
          </a:xfrm>
          <a:prstGeom prst="rect">
            <a:avLst/>
          </a:prstGeom>
        </p:spPr>
      </p:pic>
      <p:pic>
        <p:nvPicPr>
          <p:cNvPr id="28" name="Picture 27">
            <a:extLst>
              <a:ext uri="{FF2B5EF4-FFF2-40B4-BE49-F238E27FC236}">
                <a16:creationId xmlns:a16="http://schemas.microsoft.com/office/drawing/2014/main" id="{18F39919-C4E2-526E-BBE6-5627FA54C009}"/>
              </a:ext>
            </a:extLst>
          </p:cNvPr>
          <p:cNvPicPr>
            <a:picLocks noChangeAspect="1"/>
          </p:cNvPicPr>
          <p:nvPr/>
        </p:nvPicPr>
        <p:blipFill>
          <a:blip r:embed="rId7"/>
          <a:stretch>
            <a:fillRect/>
          </a:stretch>
        </p:blipFill>
        <p:spPr>
          <a:xfrm>
            <a:off x="8599243" y="4709852"/>
            <a:ext cx="2569030" cy="2025844"/>
          </a:xfrm>
          <a:prstGeom prst="rect">
            <a:avLst/>
          </a:prstGeom>
        </p:spPr>
      </p:pic>
      <p:sp>
        <p:nvSpPr>
          <p:cNvPr id="10" name="Content Placeholder 9">
            <a:extLst>
              <a:ext uri="{FF2B5EF4-FFF2-40B4-BE49-F238E27FC236}">
                <a16:creationId xmlns:a16="http://schemas.microsoft.com/office/drawing/2014/main" id="{A9A5802A-4FD1-4B79-66FC-3B4EF7D6B739}"/>
              </a:ext>
            </a:extLst>
          </p:cNvPr>
          <p:cNvSpPr>
            <a:spLocks noGrp="1"/>
          </p:cNvSpPr>
          <p:nvPr>
            <p:ph sz="half" idx="1"/>
          </p:nvPr>
        </p:nvSpPr>
        <p:spPr>
          <a:xfrm>
            <a:off x="509455" y="1111623"/>
            <a:ext cx="4766235" cy="4634753"/>
          </a:xfrm>
        </p:spPr>
        <p:txBody>
          <a:bodyPr lIns="91440" tIns="45720" rIns="91440" bIns="45720" anchor="t"/>
          <a:lstStyle/>
          <a:p>
            <a:pPr marL="0" indent="0">
              <a:buNone/>
            </a:pPr>
            <a:r>
              <a:rPr lang="en-US" sz="2000"/>
              <a:t>Targeting aggressive camber gain in                  heave/low net camber gain in roll                             to remain tire contact patch up to ~ 3</a:t>
            </a:r>
            <a:r>
              <a:rPr lang="en-US" sz="2000">
                <a:latin typeface="Aptos Narrow" panose="020B0004020202020204" pitchFamily="34" charset="0"/>
              </a:rPr>
              <a:t>° roll.</a:t>
            </a:r>
            <a:endParaRPr lang="en-US" sz="2000"/>
          </a:p>
          <a:p>
            <a:pPr marL="0" indent="0">
              <a:buNone/>
            </a:pPr>
            <a:r>
              <a:rPr lang="en-US" sz="2000" b="1"/>
              <a:t>Front:</a:t>
            </a:r>
            <a:endParaRPr lang="en-US" sz="2000" b="1">
              <a:ea typeface="Calibri"/>
              <a:cs typeface="Calibri"/>
            </a:endParaRPr>
          </a:p>
          <a:p>
            <a:pPr marL="685165" lvl="1" indent="-227965"/>
            <a:r>
              <a:rPr lang="en-US" sz="1600"/>
              <a:t>-.076 deg/mm | .2 deg/deg</a:t>
            </a:r>
            <a:endParaRPr lang="en-US" sz="1600">
              <a:ea typeface="Calibri" panose="020F0502020204030204"/>
              <a:cs typeface="Calibri" panose="020F0502020204030204"/>
            </a:endParaRPr>
          </a:p>
          <a:p>
            <a:pPr marL="685165" lvl="1" indent="-227965"/>
            <a:r>
              <a:rPr lang="en-US" sz="1600"/>
              <a:t>RC height 68.92mm</a:t>
            </a:r>
            <a:endParaRPr lang="en-US" sz="1600">
              <a:ea typeface="Calibri" panose="020F0502020204030204"/>
              <a:cs typeface="Calibri" panose="020F0502020204030204"/>
            </a:endParaRPr>
          </a:p>
          <a:p>
            <a:pPr marL="685165" lvl="1" indent="-227965"/>
            <a:r>
              <a:rPr lang="en-US" sz="1600"/>
              <a:t>RC lateral migration under roll: 28.8mm/g</a:t>
            </a:r>
            <a:endParaRPr lang="en-US" sz="1600">
              <a:ea typeface="Calibri" panose="020F0502020204030204"/>
              <a:cs typeface="Calibri" panose="020F0502020204030204"/>
            </a:endParaRPr>
          </a:p>
          <a:p>
            <a:pPr marL="0" indent="0">
              <a:buNone/>
            </a:pPr>
            <a:r>
              <a:rPr lang="en-US" sz="2000" b="1"/>
              <a:t>Rear:</a:t>
            </a:r>
            <a:endParaRPr lang="en-US" sz="2000" b="1">
              <a:ea typeface="Calibri"/>
              <a:cs typeface="Calibri"/>
            </a:endParaRPr>
          </a:p>
          <a:p>
            <a:pPr marL="685165" lvl="1" indent="-227965"/>
            <a:r>
              <a:rPr lang="en-US" sz="1600"/>
              <a:t>-.064 deg/mm | .25 deg/deg</a:t>
            </a:r>
            <a:endParaRPr lang="en-US" sz="1600">
              <a:ea typeface="Calibri" panose="020F0502020204030204"/>
              <a:cs typeface="Calibri" panose="020F0502020204030204"/>
            </a:endParaRPr>
          </a:p>
          <a:p>
            <a:pPr marL="685165" lvl="1" indent="-227965"/>
            <a:r>
              <a:rPr lang="en-US" sz="1600"/>
              <a:t>RC height: 69.93mm</a:t>
            </a:r>
            <a:endParaRPr lang="en-US" sz="1600">
              <a:ea typeface="Calibri" panose="020F0502020204030204"/>
              <a:cs typeface="Calibri" panose="020F0502020204030204"/>
            </a:endParaRPr>
          </a:p>
          <a:p>
            <a:pPr marL="685165" lvl="1" indent="-227965"/>
            <a:r>
              <a:rPr lang="en-US" sz="1600"/>
              <a:t>RV lateral migration under roll: 21.1mm/g</a:t>
            </a:r>
            <a:endParaRPr lang="en-US" sz="1600">
              <a:ea typeface="Calibri" panose="020F0502020204030204"/>
              <a:cs typeface="Calibri" panose="020F0502020204030204"/>
            </a:endParaRPr>
          </a:p>
          <a:p>
            <a:pPr marL="227965" indent="-227965"/>
            <a:r>
              <a:rPr lang="en-US" sz="2000">
                <a:ea typeface="Calibri"/>
                <a:cs typeface="Calibri"/>
              </a:rPr>
              <a:t>0% Ackermann, driver preference, and no toe, predictable slip</a:t>
            </a:r>
          </a:p>
        </p:txBody>
      </p:sp>
      <p:sp>
        <p:nvSpPr>
          <p:cNvPr id="3" name="TextBox 2">
            <a:extLst>
              <a:ext uri="{FF2B5EF4-FFF2-40B4-BE49-F238E27FC236}">
                <a16:creationId xmlns:a16="http://schemas.microsoft.com/office/drawing/2014/main" id="{5B56E19B-4D1D-E438-7467-CC4843E4379A}"/>
              </a:ext>
            </a:extLst>
          </p:cNvPr>
          <p:cNvSpPr txBox="1"/>
          <p:nvPr/>
        </p:nvSpPr>
        <p:spPr>
          <a:xfrm>
            <a:off x="9419483" y="4012551"/>
            <a:ext cx="1888953" cy="738664"/>
          </a:xfrm>
          <a:prstGeom prst="rect">
            <a:avLst/>
          </a:prstGeom>
          <a:noFill/>
        </p:spPr>
        <p:txBody>
          <a:bodyPr wrap="square" rtlCol="0">
            <a:spAutoFit/>
          </a:bodyPr>
          <a:lstStyle/>
          <a:p>
            <a:pPr algn="ctr"/>
            <a:r>
              <a:rPr lang="en-US" sz="1200"/>
              <a:t>(Blue: outside loaded tire, Red: inside loaded tire)</a:t>
            </a:r>
          </a:p>
          <a:p>
            <a:endParaRPr lang="en-US"/>
          </a:p>
        </p:txBody>
      </p:sp>
      <p:sp>
        <p:nvSpPr>
          <p:cNvPr id="4" name="TextBox 3">
            <a:extLst>
              <a:ext uri="{FF2B5EF4-FFF2-40B4-BE49-F238E27FC236}">
                <a16:creationId xmlns:a16="http://schemas.microsoft.com/office/drawing/2014/main" id="{FD395EB7-0AC8-DF2C-370F-042EC129D206}"/>
              </a:ext>
            </a:extLst>
          </p:cNvPr>
          <p:cNvSpPr txBox="1"/>
          <p:nvPr/>
        </p:nvSpPr>
        <p:spPr>
          <a:xfrm>
            <a:off x="6070540" y="6109705"/>
            <a:ext cx="2606270" cy="738664"/>
          </a:xfrm>
          <a:prstGeom prst="rect">
            <a:avLst/>
          </a:prstGeom>
          <a:noFill/>
        </p:spPr>
        <p:txBody>
          <a:bodyPr wrap="square" rtlCol="0">
            <a:spAutoFit/>
          </a:bodyPr>
          <a:lstStyle/>
          <a:p>
            <a:pPr algn="ctr"/>
            <a:r>
              <a:rPr lang="en-US" sz="1200"/>
              <a:t>(Blue: inside steering tire, </a:t>
            </a:r>
          </a:p>
          <a:p>
            <a:pPr algn="ctr"/>
            <a:r>
              <a:rPr lang="en-US" sz="1200"/>
              <a:t>Red: outside steering tire)</a:t>
            </a:r>
          </a:p>
          <a:p>
            <a:endParaRPr lang="en-US"/>
          </a:p>
        </p:txBody>
      </p:sp>
      <p:pic>
        <p:nvPicPr>
          <p:cNvPr id="6" name="Picture 5">
            <a:extLst>
              <a:ext uri="{FF2B5EF4-FFF2-40B4-BE49-F238E27FC236}">
                <a16:creationId xmlns:a16="http://schemas.microsoft.com/office/drawing/2014/main" id="{2CBAD5AB-EEC5-CB18-A679-36E0EA75C336}"/>
              </a:ext>
            </a:extLst>
          </p:cNvPr>
          <p:cNvPicPr>
            <a:picLocks noChangeAspect="1"/>
          </p:cNvPicPr>
          <p:nvPr/>
        </p:nvPicPr>
        <p:blipFill>
          <a:blip r:embed="rId8"/>
          <a:stretch>
            <a:fillRect/>
          </a:stretch>
        </p:blipFill>
        <p:spPr>
          <a:xfrm>
            <a:off x="5415853" y="4083112"/>
            <a:ext cx="2569031" cy="1968876"/>
          </a:xfrm>
          <a:prstGeom prst="rect">
            <a:avLst/>
          </a:prstGeom>
        </p:spPr>
      </p:pic>
      <p:sp>
        <p:nvSpPr>
          <p:cNvPr id="7" name="TextBox 6">
            <a:extLst>
              <a:ext uri="{FF2B5EF4-FFF2-40B4-BE49-F238E27FC236}">
                <a16:creationId xmlns:a16="http://schemas.microsoft.com/office/drawing/2014/main" id="{AA6595B9-0C07-B9FD-CE7F-AEA459518F47}"/>
              </a:ext>
            </a:extLst>
          </p:cNvPr>
          <p:cNvSpPr txBox="1"/>
          <p:nvPr/>
        </p:nvSpPr>
        <p:spPr>
          <a:xfrm>
            <a:off x="6733842" y="925142"/>
            <a:ext cx="3885935" cy="369332"/>
          </a:xfrm>
          <a:prstGeom prst="rect">
            <a:avLst/>
          </a:prstGeom>
          <a:noFill/>
        </p:spPr>
        <p:txBody>
          <a:bodyPr wrap="square" rtlCol="0">
            <a:spAutoFit/>
          </a:bodyPr>
          <a:lstStyle/>
          <a:p>
            <a:r>
              <a:rPr lang="en-US"/>
              <a:t>F                                                                       R</a:t>
            </a:r>
          </a:p>
        </p:txBody>
      </p:sp>
    </p:spTree>
    <p:extLst>
      <p:ext uri="{BB962C8B-B14F-4D97-AF65-F5344CB8AC3E}">
        <p14:creationId xmlns:p14="http://schemas.microsoft.com/office/powerpoint/2010/main" val="3842249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65FAC2-14D0-CD99-523D-9B50630344E6}"/>
              </a:ext>
            </a:extLst>
          </p:cNvPr>
          <p:cNvSpPr>
            <a:spLocks noGrp="1"/>
          </p:cNvSpPr>
          <p:nvPr>
            <p:ph sz="half" idx="1"/>
          </p:nvPr>
        </p:nvSpPr>
        <p:spPr>
          <a:xfrm>
            <a:off x="856673" y="578715"/>
            <a:ext cx="5181600" cy="4351338"/>
          </a:xfrm>
        </p:spPr>
        <p:txBody>
          <a:bodyPr/>
          <a:lstStyle/>
          <a:p>
            <a:r>
              <a:rPr lang="en-US"/>
              <a:t>0% </a:t>
            </a:r>
            <a:r>
              <a:rPr lang="en-US" err="1"/>
              <a:t>ackerman</a:t>
            </a:r>
            <a:endParaRPr lang="en-US"/>
          </a:p>
        </p:txBody>
      </p:sp>
      <p:sp>
        <p:nvSpPr>
          <p:cNvPr id="4" name="Content Placeholder 3">
            <a:extLst>
              <a:ext uri="{FF2B5EF4-FFF2-40B4-BE49-F238E27FC236}">
                <a16:creationId xmlns:a16="http://schemas.microsoft.com/office/drawing/2014/main" id="{9C064935-185F-CC21-0CF4-E5160DF84E74}"/>
              </a:ext>
            </a:extLst>
          </p:cNvPr>
          <p:cNvSpPr>
            <a:spLocks noGrp="1"/>
          </p:cNvSpPr>
          <p:nvPr>
            <p:ph sz="half" idx="2"/>
          </p:nvPr>
        </p:nvSpPr>
        <p:spPr>
          <a:xfrm>
            <a:off x="5858927" y="643759"/>
            <a:ext cx="5181600" cy="4351338"/>
          </a:xfrm>
        </p:spPr>
        <p:txBody>
          <a:bodyPr/>
          <a:lstStyle/>
          <a:p>
            <a:r>
              <a:rPr lang="en-US"/>
              <a:t>25% </a:t>
            </a:r>
            <a:r>
              <a:rPr lang="en-US" err="1"/>
              <a:t>ackerman</a:t>
            </a:r>
            <a:endParaRPr lang="en-US"/>
          </a:p>
        </p:txBody>
      </p:sp>
      <p:pic>
        <p:nvPicPr>
          <p:cNvPr id="5" name="Picture 4">
            <a:extLst>
              <a:ext uri="{FF2B5EF4-FFF2-40B4-BE49-F238E27FC236}">
                <a16:creationId xmlns:a16="http://schemas.microsoft.com/office/drawing/2014/main" id="{63FFACA6-3C88-5B32-15C0-6DB4B6DFC6CA}"/>
              </a:ext>
            </a:extLst>
          </p:cNvPr>
          <p:cNvPicPr>
            <a:picLocks noChangeAspect="1"/>
          </p:cNvPicPr>
          <p:nvPr/>
        </p:nvPicPr>
        <p:blipFill>
          <a:blip r:embed="rId2"/>
          <a:stretch>
            <a:fillRect/>
          </a:stretch>
        </p:blipFill>
        <p:spPr>
          <a:xfrm>
            <a:off x="5847306" y="1155551"/>
            <a:ext cx="2768758" cy="2183342"/>
          </a:xfrm>
          <a:prstGeom prst="rect">
            <a:avLst/>
          </a:prstGeom>
        </p:spPr>
      </p:pic>
      <p:pic>
        <p:nvPicPr>
          <p:cNvPr id="8" name="Picture 7">
            <a:extLst>
              <a:ext uri="{FF2B5EF4-FFF2-40B4-BE49-F238E27FC236}">
                <a16:creationId xmlns:a16="http://schemas.microsoft.com/office/drawing/2014/main" id="{C33A015D-DC68-CDAF-3A07-859B6A70D3D6}"/>
              </a:ext>
            </a:extLst>
          </p:cNvPr>
          <p:cNvPicPr>
            <a:picLocks noChangeAspect="1"/>
          </p:cNvPicPr>
          <p:nvPr/>
        </p:nvPicPr>
        <p:blipFill>
          <a:blip r:embed="rId3"/>
          <a:srcRect t="1749" r="1571"/>
          <a:stretch>
            <a:fillRect/>
          </a:stretch>
        </p:blipFill>
        <p:spPr>
          <a:xfrm>
            <a:off x="0" y="3467297"/>
            <a:ext cx="2815408" cy="2140434"/>
          </a:xfrm>
          <a:prstGeom prst="rect">
            <a:avLst/>
          </a:prstGeom>
        </p:spPr>
      </p:pic>
      <p:pic>
        <p:nvPicPr>
          <p:cNvPr id="10" name="Picture 9">
            <a:extLst>
              <a:ext uri="{FF2B5EF4-FFF2-40B4-BE49-F238E27FC236}">
                <a16:creationId xmlns:a16="http://schemas.microsoft.com/office/drawing/2014/main" id="{7C20ED73-CFC6-81E9-2E29-CF4FB2FF296F}"/>
              </a:ext>
            </a:extLst>
          </p:cNvPr>
          <p:cNvPicPr>
            <a:picLocks noChangeAspect="1"/>
          </p:cNvPicPr>
          <p:nvPr/>
        </p:nvPicPr>
        <p:blipFill>
          <a:blip r:embed="rId4"/>
          <a:stretch>
            <a:fillRect/>
          </a:stretch>
        </p:blipFill>
        <p:spPr>
          <a:xfrm>
            <a:off x="11948" y="1349207"/>
            <a:ext cx="2624115" cy="2062462"/>
          </a:xfrm>
          <a:prstGeom prst="rect">
            <a:avLst/>
          </a:prstGeom>
        </p:spPr>
      </p:pic>
      <p:pic>
        <p:nvPicPr>
          <p:cNvPr id="12" name="Picture 11">
            <a:extLst>
              <a:ext uri="{FF2B5EF4-FFF2-40B4-BE49-F238E27FC236}">
                <a16:creationId xmlns:a16="http://schemas.microsoft.com/office/drawing/2014/main" id="{D181EAFC-FA0A-AEB2-331A-D8960CD5CF2F}"/>
              </a:ext>
            </a:extLst>
          </p:cNvPr>
          <p:cNvPicPr>
            <a:picLocks noChangeAspect="1"/>
          </p:cNvPicPr>
          <p:nvPr/>
        </p:nvPicPr>
        <p:blipFill>
          <a:blip r:embed="rId5"/>
          <a:stretch>
            <a:fillRect/>
          </a:stretch>
        </p:blipFill>
        <p:spPr>
          <a:xfrm>
            <a:off x="2994752" y="1373575"/>
            <a:ext cx="2696779" cy="4187444"/>
          </a:xfrm>
          <a:prstGeom prst="rect">
            <a:avLst/>
          </a:prstGeom>
        </p:spPr>
      </p:pic>
      <p:pic>
        <p:nvPicPr>
          <p:cNvPr id="14" name="Picture 13">
            <a:extLst>
              <a:ext uri="{FF2B5EF4-FFF2-40B4-BE49-F238E27FC236}">
                <a16:creationId xmlns:a16="http://schemas.microsoft.com/office/drawing/2014/main" id="{BFA8B8A7-DD4D-E8FF-AEA3-1084B4C99736}"/>
              </a:ext>
            </a:extLst>
          </p:cNvPr>
          <p:cNvPicPr>
            <a:picLocks noChangeAspect="1"/>
          </p:cNvPicPr>
          <p:nvPr/>
        </p:nvPicPr>
        <p:blipFill>
          <a:blip r:embed="rId6"/>
          <a:stretch>
            <a:fillRect/>
          </a:stretch>
        </p:blipFill>
        <p:spPr>
          <a:xfrm>
            <a:off x="5847306" y="3599582"/>
            <a:ext cx="2996420" cy="2308885"/>
          </a:xfrm>
          <a:prstGeom prst="rect">
            <a:avLst/>
          </a:prstGeom>
        </p:spPr>
      </p:pic>
      <p:pic>
        <p:nvPicPr>
          <p:cNvPr id="20" name="Picture 19">
            <a:extLst>
              <a:ext uri="{FF2B5EF4-FFF2-40B4-BE49-F238E27FC236}">
                <a16:creationId xmlns:a16="http://schemas.microsoft.com/office/drawing/2014/main" id="{1EE6090D-45BD-E270-F183-727BC5B6E7A6}"/>
              </a:ext>
            </a:extLst>
          </p:cNvPr>
          <p:cNvPicPr>
            <a:picLocks noChangeAspect="1"/>
          </p:cNvPicPr>
          <p:nvPr/>
        </p:nvPicPr>
        <p:blipFill>
          <a:blip r:embed="rId7"/>
          <a:stretch>
            <a:fillRect/>
          </a:stretch>
        </p:blipFill>
        <p:spPr>
          <a:xfrm>
            <a:off x="8999501" y="3657036"/>
            <a:ext cx="2828925" cy="2208260"/>
          </a:xfrm>
          <a:prstGeom prst="rect">
            <a:avLst/>
          </a:prstGeom>
        </p:spPr>
      </p:pic>
      <p:sp>
        <p:nvSpPr>
          <p:cNvPr id="21" name="Content Placeholder 3">
            <a:extLst>
              <a:ext uri="{FF2B5EF4-FFF2-40B4-BE49-F238E27FC236}">
                <a16:creationId xmlns:a16="http://schemas.microsoft.com/office/drawing/2014/main" id="{099ED3E7-C74B-3702-CCDA-3EFDEAA656E5}"/>
              </a:ext>
            </a:extLst>
          </p:cNvPr>
          <p:cNvSpPr txBox="1">
            <a:spLocks/>
          </p:cNvSpPr>
          <p:nvPr/>
        </p:nvSpPr>
        <p:spPr>
          <a:xfrm>
            <a:off x="8855347" y="708803"/>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100% </a:t>
            </a:r>
            <a:r>
              <a:rPr lang="en-US" err="1"/>
              <a:t>ackerman</a:t>
            </a:r>
            <a:endParaRPr lang="en-US"/>
          </a:p>
        </p:txBody>
      </p:sp>
      <p:pic>
        <p:nvPicPr>
          <p:cNvPr id="23" name="Picture 22">
            <a:extLst>
              <a:ext uri="{FF2B5EF4-FFF2-40B4-BE49-F238E27FC236}">
                <a16:creationId xmlns:a16="http://schemas.microsoft.com/office/drawing/2014/main" id="{43B2AE59-D0B3-6C2A-C52A-B788E8784C61}"/>
              </a:ext>
            </a:extLst>
          </p:cNvPr>
          <p:cNvPicPr>
            <a:picLocks noChangeAspect="1"/>
          </p:cNvPicPr>
          <p:nvPr/>
        </p:nvPicPr>
        <p:blipFill>
          <a:blip r:embed="rId8"/>
          <a:srcRect t="851"/>
          <a:stretch>
            <a:fillRect/>
          </a:stretch>
        </p:blipFill>
        <p:spPr>
          <a:xfrm>
            <a:off x="9011898" y="1220740"/>
            <a:ext cx="2815409" cy="2208260"/>
          </a:xfrm>
          <a:prstGeom prst="rect">
            <a:avLst/>
          </a:prstGeom>
        </p:spPr>
      </p:pic>
      <p:sp>
        <p:nvSpPr>
          <p:cNvPr id="26" name="TextBox 25">
            <a:extLst>
              <a:ext uri="{FF2B5EF4-FFF2-40B4-BE49-F238E27FC236}">
                <a16:creationId xmlns:a16="http://schemas.microsoft.com/office/drawing/2014/main" id="{3A22D87A-BAF0-6CA3-3B86-3AA14FB3509F}"/>
              </a:ext>
            </a:extLst>
          </p:cNvPr>
          <p:cNvSpPr txBox="1"/>
          <p:nvPr/>
        </p:nvSpPr>
        <p:spPr>
          <a:xfrm>
            <a:off x="1152525" y="6149197"/>
            <a:ext cx="8915400" cy="646331"/>
          </a:xfrm>
          <a:prstGeom prst="rect">
            <a:avLst/>
          </a:prstGeom>
          <a:noFill/>
        </p:spPr>
        <p:txBody>
          <a:bodyPr wrap="square" rtlCol="0">
            <a:spAutoFit/>
          </a:bodyPr>
          <a:lstStyle/>
          <a:p>
            <a:r>
              <a:rPr lang="en-US" dirty="0"/>
              <a:t>Anti </a:t>
            </a:r>
            <a:r>
              <a:rPr lang="en-US" dirty="0" err="1"/>
              <a:t>ackerman</a:t>
            </a:r>
            <a:r>
              <a:rPr lang="en-US" dirty="0"/>
              <a:t> was avoided for low speed understeer with hairpins. Drivers preferred balance of oversteer slight bias on 0% </a:t>
            </a:r>
          </a:p>
        </p:txBody>
      </p:sp>
    </p:spTree>
    <p:extLst>
      <p:ext uri="{BB962C8B-B14F-4D97-AF65-F5344CB8AC3E}">
        <p14:creationId xmlns:p14="http://schemas.microsoft.com/office/powerpoint/2010/main" val="1028957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27B39-F19D-B91A-50D1-FEC60CDBABBD}"/>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00D81EE-CD7F-0FEB-8488-34E5275DA5EB}"/>
              </a:ext>
            </a:extLst>
          </p:cNvPr>
          <p:cNvPicPr>
            <a:picLocks noChangeAspect="1"/>
          </p:cNvPicPr>
          <p:nvPr/>
        </p:nvPicPr>
        <p:blipFill>
          <a:blip r:embed="rId2"/>
          <a:srcRect r="4902" b="-2437"/>
          <a:stretch>
            <a:fillRect/>
          </a:stretch>
        </p:blipFill>
        <p:spPr>
          <a:xfrm>
            <a:off x="3404153" y="2936772"/>
            <a:ext cx="2176843" cy="2928784"/>
          </a:xfrm>
          <a:prstGeom prst="rect">
            <a:avLst/>
          </a:prstGeom>
        </p:spPr>
      </p:pic>
      <p:sp>
        <p:nvSpPr>
          <p:cNvPr id="2" name="Title 1">
            <a:extLst>
              <a:ext uri="{FF2B5EF4-FFF2-40B4-BE49-F238E27FC236}">
                <a16:creationId xmlns:a16="http://schemas.microsoft.com/office/drawing/2014/main" id="{51FA2FDE-BE77-3384-7BA4-22C7726051D9}"/>
              </a:ext>
            </a:extLst>
          </p:cNvPr>
          <p:cNvSpPr>
            <a:spLocks noGrp="1"/>
          </p:cNvSpPr>
          <p:nvPr>
            <p:ph type="title"/>
          </p:nvPr>
        </p:nvSpPr>
        <p:spPr>
          <a:xfrm>
            <a:off x="348784" y="199479"/>
            <a:ext cx="12387943" cy="656851"/>
          </a:xfrm>
        </p:spPr>
        <p:txBody>
          <a:bodyPr>
            <a:normAutofit fontScale="90000"/>
          </a:bodyPr>
          <a:lstStyle/>
          <a:p>
            <a:r>
              <a:rPr lang="en-US" sz="4100" b="1">
                <a:latin typeface="+mn-lt"/>
              </a:rPr>
              <a:t>Vehicle Dynamics Adjustability, Data, and Simulation</a:t>
            </a:r>
          </a:p>
        </p:txBody>
      </p:sp>
      <p:sp>
        <p:nvSpPr>
          <p:cNvPr id="10" name="Content Placeholder 9">
            <a:extLst>
              <a:ext uri="{FF2B5EF4-FFF2-40B4-BE49-F238E27FC236}">
                <a16:creationId xmlns:a16="http://schemas.microsoft.com/office/drawing/2014/main" id="{F2B69307-22CD-ADCE-1DCB-8BAA5E66AFE3}"/>
              </a:ext>
            </a:extLst>
          </p:cNvPr>
          <p:cNvSpPr>
            <a:spLocks noGrp="1"/>
          </p:cNvSpPr>
          <p:nvPr>
            <p:ph sz="half" idx="1"/>
          </p:nvPr>
        </p:nvSpPr>
        <p:spPr>
          <a:xfrm>
            <a:off x="4665977" y="1230803"/>
            <a:ext cx="6994803" cy="4634753"/>
          </a:xfrm>
        </p:spPr>
        <p:txBody>
          <a:bodyPr lIns="91440" tIns="45720" rIns="91440" bIns="45720" anchor="t"/>
          <a:lstStyle/>
          <a:p>
            <a:pPr marL="227965" indent="-227965"/>
            <a:r>
              <a:rPr lang="en-US" sz="2000" b="1" dirty="0"/>
              <a:t>Simulation</a:t>
            </a:r>
            <a:endParaRPr lang="en-US" b="1" dirty="0"/>
          </a:p>
          <a:p>
            <a:pPr marL="685165" lvl="1" indent="-227965"/>
            <a:r>
              <a:rPr lang="en-US" sz="1600" dirty="0"/>
              <a:t>Steady State 4-wheel-coupled-bicycle 5-motion-DOF physics model targeted for </a:t>
            </a:r>
            <a:r>
              <a:rPr lang="en-US" sz="1600" dirty="0" err="1"/>
              <a:t>skidpad</a:t>
            </a:r>
            <a:r>
              <a:rPr lang="en-US" sz="1600" dirty="0"/>
              <a:t> (excluding pitch)</a:t>
            </a:r>
            <a:endParaRPr lang="en-US" sz="1600" dirty="0">
              <a:ea typeface="Calibri"/>
              <a:cs typeface="Calibri"/>
            </a:endParaRPr>
          </a:p>
          <a:p>
            <a:pPr marL="685165" lvl="1" indent="-227965"/>
            <a:r>
              <a:rPr lang="en-US" sz="1600" dirty="0"/>
              <a:t>Integrated </a:t>
            </a:r>
            <a:r>
              <a:rPr lang="en-US" sz="1600" dirty="0" err="1"/>
              <a:t>Pacejka</a:t>
            </a:r>
            <a:r>
              <a:rPr lang="en-US" sz="1600" dirty="0"/>
              <a:t> hand tuned tire coefficients, weight transfer, aero, and dynamic toe</a:t>
            </a:r>
            <a:endParaRPr lang="en-US" sz="1600" dirty="0">
              <a:ea typeface="Calibri"/>
              <a:cs typeface="Calibri"/>
            </a:endParaRPr>
          </a:p>
          <a:p>
            <a:pPr marL="685165" lvl="1" indent="-227965"/>
            <a:r>
              <a:rPr lang="en-US" sz="1600" dirty="0"/>
              <a:t>Purpose is a baseline setup for further tuning of stiffness/Ackermann/toe</a:t>
            </a:r>
            <a:endParaRPr lang="en-US" sz="1600" dirty="0">
              <a:ea typeface="Calibri" panose="020F0502020204030204"/>
              <a:cs typeface="Calibri" panose="020F0502020204030204"/>
            </a:endParaRPr>
          </a:p>
          <a:p>
            <a:pPr marL="685165" lvl="1" indent="-227965"/>
            <a:r>
              <a:rPr lang="en-US" sz="1600" dirty="0"/>
              <a:t>Used for aero sideslip (beta) simulations providing proper bearing for cornering for </a:t>
            </a:r>
            <a:r>
              <a:rPr lang="en-US" sz="1600" dirty="0" err="1"/>
              <a:t>cfd</a:t>
            </a:r>
            <a:r>
              <a:rPr lang="en-US" sz="1600" dirty="0"/>
              <a:t> simulations</a:t>
            </a:r>
            <a:endParaRPr lang="en-US" sz="1600" dirty="0">
              <a:ea typeface="Calibri"/>
              <a:cs typeface="Calibri"/>
            </a:endParaRPr>
          </a:p>
          <a:p>
            <a:pPr marL="685165" lvl="1" indent="-227965"/>
            <a:r>
              <a:rPr lang="en-US" sz="1600" dirty="0"/>
              <a:t>Tires overfit slip after the grip limit leading to model overcalculating forces and slip</a:t>
            </a:r>
            <a:endParaRPr lang="en-US" sz="1600" dirty="0">
              <a:ea typeface="Calibri" panose="020F0502020204030204"/>
              <a:cs typeface="Calibri" panose="020F0502020204030204"/>
            </a:endParaRPr>
          </a:p>
        </p:txBody>
      </p:sp>
      <p:sp>
        <p:nvSpPr>
          <p:cNvPr id="14" name="Content Placeholder 2">
            <a:extLst>
              <a:ext uri="{FF2B5EF4-FFF2-40B4-BE49-F238E27FC236}">
                <a16:creationId xmlns:a16="http://schemas.microsoft.com/office/drawing/2014/main" id="{8C28A6B9-BC7D-BFBE-EAD8-A0BAF5AE3AE2}"/>
              </a:ext>
            </a:extLst>
          </p:cNvPr>
          <p:cNvSpPr txBox="1">
            <a:spLocks/>
          </p:cNvSpPr>
          <p:nvPr/>
        </p:nvSpPr>
        <p:spPr>
          <a:xfrm>
            <a:off x="327020" y="1234456"/>
            <a:ext cx="4406898" cy="4555863"/>
          </a:xfrm>
          <a:prstGeom prst="rect">
            <a:avLst/>
          </a:prstGeom>
        </p:spPr>
        <p:txBody>
          <a:bodyPr vert="horz" lIns="91440" tIns="45720" rIns="91440" bIns="45720" rtlCol="0" anchor="t">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r>
              <a:rPr lang="en-US" altLang="en-US" sz="2000" b="1" dirty="0"/>
              <a:t>Adjustability:</a:t>
            </a:r>
            <a:endParaRPr lang="en-US" b="1" dirty="0"/>
          </a:p>
          <a:p>
            <a:pPr marL="742315" lvl="1" indent="-285115"/>
            <a:r>
              <a:rPr lang="en-US" altLang="en-US" sz="1600" dirty="0"/>
              <a:t>Outboard camber adjustment tabs</a:t>
            </a:r>
            <a:endParaRPr lang="en-US" altLang="en-US" sz="1600" dirty="0">
              <a:ea typeface="Calibri" panose="020F0502020204030204"/>
              <a:cs typeface="Calibri" panose="020F0502020204030204"/>
            </a:endParaRPr>
          </a:p>
          <a:p>
            <a:pPr marL="742315" lvl="1" indent="-285115"/>
            <a:r>
              <a:rPr lang="en-US" altLang="en-US" sz="1600" dirty="0"/>
              <a:t>Interchangeable Ackerman brackets</a:t>
            </a:r>
            <a:endParaRPr lang="en-US" altLang="en-US" sz="1600" dirty="0">
              <a:ea typeface="Calibri" panose="020F0502020204030204"/>
              <a:cs typeface="Calibri" panose="020F0502020204030204"/>
            </a:endParaRPr>
          </a:p>
          <a:p>
            <a:pPr marL="742315" lvl="1" indent="-285115"/>
            <a:r>
              <a:rPr lang="en-US" altLang="en-US" sz="1600" dirty="0"/>
              <a:t>Variable length pushrods and tie rods</a:t>
            </a:r>
            <a:endParaRPr lang="en-US" altLang="en-US" sz="1600" dirty="0">
              <a:ea typeface="Calibri" panose="020F0502020204030204"/>
              <a:cs typeface="Calibri" panose="020F0502020204030204"/>
            </a:endParaRPr>
          </a:p>
          <a:p>
            <a:pPr marL="742315" lvl="1" indent="-285115"/>
            <a:r>
              <a:rPr lang="en-US" altLang="en-US" sz="1600" dirty="0"/>
              <a:t>Spring stiffnesses from 125-500 </a:t>
            </a:r>
            <a:r>
              <a:rPr lang="en-US" altLang="en-US" sz="1600" dirty="0" err="1"/>
              <a:t>lbf</a:t>
            </a:r>
            <a:r>
              <a:rPr lang="en-US" altLang="en-US" sz="1600" dirty="0"/>
              <a:t>/in</a:t>
            </a:r>
            <a:endParaRPr lang="en-US" altLang="en-US" sz="1600" dirty="0">
              <a:ea typeface="Calibri"/>
              <a:cs typeface="Calibri"/>
            </a:endParaRPr>
          </a:p>
          <a:p>
            <a:pPr marL="742315" lvl="1" indent="-285115"/>
            <a:r>
              <a:rPr lang="en-US" altLang="en-US" sz="1600" dirty="0" err="1"/>
              <a:t>Ohlins</a:t>
            </a:r>
            <a:r>
              <a:rPr lang="en-US" altLang="en-US" sz="1600" dirty="0"/>
              <a:t> TTX25 Mk2 4-way dampers</a:t>
            </a:r>
            <a:endParaRPr lang="en-US" altLang="en-US" sz="2000" dirty="0">
              <a:ea typeface="Calibri" panose="020F0502020204030204"/>
              <a:cs typeface="Calibri" panose="020F0502020204030204"/>
            </a:endParaRPr>
          </a:p>
          <a:p>
            <a:pPr marL="285115" indent="-285115"/>
            <a:r>
              <a:rPr lang="en-US" altLang="en-US" sz="2000" b="1" dirty="0"/>
              <a:t>Data Acquisition:</a:t>
            </a:r>
            <a:endParaRPr lang="en-US" altLang="en-US" sz="2000" b="1" dirty="0">
              <a:ea typeface="Calibri"/>
              <a:cs typeface="Calibri"/>
            </a:endParaRPr>
          </a:p>
          <a:p>
            <a:pPr marL="685165" lvl="1" indent="-227965"/>
            <a:r>
              <a:rPr lang="en-US" altLang="en-US" sz="1600" dirty="0"/>
              <a:t>Stopwatch</a:t>
            </a:r>
            <a:endParaRPr lang="en-US" altLang="en-US" sz="1600" dirty="0">
              <a:ea typeface="Calibri" panose="020F0502020204030204"/>
              <a:cs typeface="Calibri" panose="020F0502020204030204"/>
            </a:endParaRPr>
          </a:p>
          <a:p>
            <a:pPr marL="685165" lvl="1" indent="-227965"/>
            <a:r>
              <a:rPr lang="en-US" altLang="en-US" sz="1600" dirty="0"/>
              <a:t>Tire Pyrometer</a:t>
            </a:r>
            <a:endParaRPr lang="en-US" altLang="en-US" sz="1600" dirty="0">
              <a:ea typeface="Calibri" panose="020F0502020204030204"/>
              <a:cs typeface="Calibri" panose="020F0502020204030204"/>
            </a:endParaRPr>
          </a:p>
          <a:p>
            <a:pPr marL="685165" lvl="1" indent="-227965"/>
            <a:r>
              <a:rPr lang="en-US" altLang="en-US" sz="1600" dirty="0"/>
              <a:t>Accelerometer/Datalogger</a:t>
            </a:r>
            <a:endParaRPr lang="en-US" altLang="en-US" sz="1600" dirty="0">
              <a:ea typeface="Calibri" panose="020F0502020204030204"/>
              <a:cs typeface="Calibri" panose="020F0502020204030204"/>
            </a:endParaRPr>
          </a:p>
          <a:p>
            <a:pPr marL="685165" lvl="1" indent="-227965"/>
            <a:r>
              <a:rPr lang="en-US" altLang="en-US" sz="1600" dirty="0"/>
              <a:t>Steering Angle Sensor</a:t>
            </a:r>
            <a:endParaRPr lang="en-US" altLang="en-US" sz="1600" dirty="0">
              <a:ea typeface="Calibri" panose="020F0502020204030204"/>
              <a:cs typeface="Calibri" panose="020F0502020204030204"/>
            </a:endParaRPr>
          </a:p>
          <a:p>
            <a:pPr marL="685165" lvl="1" indent="-227965"/>
            <a:r>
              <a:rPr lang="en-US" altLang="en-US" sz="1600" dirty="0"/>
              <a:t>Utilized for lap times, camber                      and tire utilization, and                          parameters for simulations</a:t>
            </a:r>
            <a:endParaRPr lang="en-US" altLang="en-US" sz="1600" dirty="0">
              <a:ea typeface="Calibri"/>
              <a:cs typeface="Calibri"/>
            </a:endParaRPr>
          </a:p>
        </p:txBody>
      </p:sp>
      <p:pic>
        <p:nvPicPr>
          <p:cNvPr id="8" name="Picture 7">
            <a:extLst>
              <a:ext uri="{FF2B5EF4-FFF2-40B4-BE49-F238E27FC236}">
                <a16:creationId xmlns:a16="http://schemas.microsoft.com/office/drawing/2014/main" id="{BED97052-64DF-8B6F-8B2A-21BCCC2428D8}"/>
              </a:ext>
            </a:extLst>
          </p:cNvPr>
          <p:cNvPicPr>
            <a:picLocks noChangeAspect="1"/>
          </p:cNvPicPr>
          <p:nvPr/>
        </p:nvPicPr>
        <p:blipFill>
          <a:blip r:embed="rId3"/>
          <a:stretch>
            <a:fillRect/>
          </a:stretch>
        </p:blipFill>
        <p:spPr>
          <a:xfrm>
            <a:off x="5675093" y="4147044"/>
            <a:ext cx="2630518" cy="2129890"/>
          </a:xfrm>
          <a:prstGeom prst="rect">
            <a:avLst/>
          </a:prstGeom>
        </p:spPr>
      </p:pic>
      <p:pic>
        <p:nvPicPr>
          <p:cNvPr id="19" name="Picture 18">
            <a:extLst>
              <a:ext uri="{FF2B5EF4-FFF2-40B4-BE49-F238E27FC236}">
                <a16:creationId xmlns:a16="http://schemas.microsoft.com/office/drawing/2014/main" id="{0A87ACFF-F9EE-F3AA-ACFB-C8F153CC1DAF}"/>
              </a:ext>
            </a:extLst>
          </p:cNvPr>
          <p:cNvPicPr>
            <a:picLocks noChangeAspect="1"/>
          </p:cNvPicPr>
          <p:nvPr/>
        </p:nvPicPr>
        <p:blipFill>
          <a:blip r:embed="rId4"/>
          <a:stretch>
            <a:fillRect/>
          </a:stretch>
        </p:blipFill>
        <p:spPr>
          <a:xfrm>
            <a:off x="8541512" y="4147044"/>
            <a:ext cx="2675993" cy="2196438"/>
          </a:xfrm>
          <a:prstGeom prst="rect">
            <a:avLst/>
          </a:prstGeom>
        </p:spPr>
      </p:pic>
    </p:spTree>
    <p:extLst>
      <p:ext uri="{BB962C8B-B14F-4D97-AF65-F5344CB8AC3E}">
        <p14:creationId xmlns:p14="http://schemas.microsoft.com/office/powerpoint/2010/main" val="2268570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0B17A313-DAA5-AD57-3D3D-62B763127C72}"/>
              </a:ext>
            </a:extLst>
          </p:cNvPr>
          <p:cNvSpPr txBox="1"/>
          <p:nvPr/>
        </p:nvSpPr>
        <p:spPr>
          <a:xfrm>
            <a:off x="8109085" y="281056"/>
            <a:ext cx="3807030" cy="3139321"/>
          </a:xfrm>
          <a:prstGeom prst="rect">
            <a:avLst/>
          </a:prstGeom>
          <a:noFill/>
        </p:spPr>
        <p:txBody>
          <a:bodyPr wrap="square" rtlCol="0">
            <a:spAutoFit/>
          </a:bodyPr>
          <a:lstStyle/>
          <a:p>
            <a:r>
              <a:rPr lang="en-US"/>
              <a:t>Our simplified model limitations:</a:t>
            </a:r>
          </a:p>
          <a:p>
            <a:pPr marL="285750" indent="-285750">
              <a:buFont typeface="Arial" panose="020B0604020202020204" pitchFamily="34" charset="0"/>
              <a:buChar char="•"/>
            </a:pPr>
            <a:r>
              <a:rPr lang="en-US"/>
              <a:t>Smooth MF5 Tires with no tire drop-off past threshold (grip beyond peak slip)</a:t>
            </a:r>
          </a:p>
          <a:p>
            <a:pPr marL="285750" indent="-285750">
              <a:buFont typeface="Arial" panose="020B0604020202020204" pitchFamily="34" charset="0"/>
              <a:buChar char="•"/>
            </a:pPr>
            <a:r>
              <a:rPr lang="en-US"/>
              <a:t>Beta converges very high from the MF tires, see beta map for realistic operation conditions</a:t>
            </a:r>
          </a:p>
          <a:p>
            <a:pPr marL="285750" indent="-285750">
              <a:buFont typeface="Arial" panose="020B0604020202020204" pitchFamily="34" charset="0"/>
              <a:buChar char="•"/>
            </a:pPr>
            <a:r>
              <a:rPr lang="en-US"/>
              <a:t>Assumed pure lateral slip, no combined slip to target for steady state at apex, </a:t>
            </a:r>
            <a:r>
              <a:rPr lang="en-US" err="1"/>
              <a:t>skidpad</a:t>
            </a:r>
            <a:r>
              <a:rPr lang="en-US"/>
              <a:t>, and mechanical balance</a:t>
            </a:r>
          </a:p>
        </p:txBody>
      </p:sp>
      <p:pic>
        <p:nvPicPr>
          <p:cNvPr id="2" name="Picture 1">
            <a:extLst>
              <a:ext uri="{FF2B5EF4-FFF2-40B4-BE49-F238E27FC236}">
                <a16:creationId xmlns:a16="http://schemas.microsoft.com/office/drawing/2014/main" id="{183721FC-8137-03F2-0C77-B53945AAD78E}"/>
              </a:ext>
            </a:extLst>
          </p:cNvPr>
          <p:cNvPicPr>
            <a:picLocks noChangeAspect="1"/>
          </p:cNvPicPr>
          <p:nvPr/>
        </p:nvPicPr>
        <p:blipFill>
          <a:blip r:embed="rId2"/>
          <a:srcRect t="1749" r="1571"/>
          <a:stretch>
            <a:fillRect/>
          </a:stretch>
        </p:blipFill>
        <p:spPr>
          <a:xfrm>
            <a:off x="8394900" y="3549964"/>
            <a:ext cx="3409379" cy="2592005"/>
          </a:xfrm>
          <a:prstGeom prst="rect">
            <a:avLst/>
          </a:prstGeom>
        </p:spPr>
      </p:pic>
      <p:sp>
        <p:nvSpPr>
          <p:cNvPr id="27" name="TextBox 26">
            <a:extLst>
              <a:ext uri="{FF2B5EF4-FFF2-40B4-BE49-F238E27FC236}">
                <a16:creationId xmlns:a16="http://schemas.microsoft.com/office/drawing/2014/main" id="{E1124094-4F1D-346E-2B23-E1947CA15ECF}"/>
              </a:ext>
            </a:extLst>
          </p:cNvPr>
          <p:cNvSpPr txBox="1"/>
          <p:nvPr/>
        </p:nvSpPr>
        <p:spPr>
          <a:xfrm>
            <a:off x="6402242" y="6235563"/>
            <a:ext cx="8915400" cy="369332"/>
          </a:xfrm>
          <a:prstGeom prst="rect">
            <a:avLst/>
          </a:prstGeom>
          <a:noFill/>
        </p:spPr>
        <p:txBody>
          <a:bodyPr wrap="square" rtlCol="0">
            <a:spAutoFit/>
          </a:bodyPr>
          <a:lstStyle/>
          <a:p>
            <a:r>
              <a:rPr lang="en-US"/>
              <a:t>Red is more oversteer bias, Blue is Understeer Bias</a:t>
            </a:r>
          </a:p>
        </p:txBody>
      </p:sp>
      <p:pic>
        <p:nvPicPr>
          <p:cNvPr id="4" name="Picture 3">
            <a:extLst>
              <a:ext uri="{FF2B5EF4-FFF2-40B4-BE49-F238E27FC236}">
                <a16:creationId xmlns:a16="http://schemas.microsoft.com/office/drawing/2014/main" id="{E3F12EA0-A527-D168-DD8F-0650128F185A}"/>
              </a:ext>
            </a:extLst>
          </p:cNvPr>
          <p:cNvPicPr>
            <a:picLocks noChangeAspect="1"/>
          </p:cNvPicPr>
          <p:nvPr/>
        </p:nvPicPr>
        <p:blipFill>
          <a:blip r:embed="rId3"/>
          <a:stretch>
            <a:fillRect/>
          </a:stretch>
        </p:blipFill>
        <p:spPr>
          <a:xfrm>
            <a:off x="4841405" y="3456370"/>
            <a:ext cx="3267680" cy="2685599"/>
          </a:xfrm>
          <a:prstGeom prst="rect">
            <a:avLst/>
          </a:prstGeom>
        </p:spPr>
      </p:pic>
      <p:pic>
        <p:nvPicPr>
          <p:cNvPr id="6" name="Picture 5">
            <a:extLst>
              <a:ext uri="{FF2B5EF4-FFF2-40B4-BE49-F238E27FC236}">
                <a16:creationId xmlns:a16="http://schemas.microsoft.com/office/drawing/2014/main" id="{8095CBCD-EE97-E409-58AB-9B30ECB55F0F}"/>
              </a:ext>
            </a:extLst>
          </p:cNvPr>
          <p:cNvPicPr>
            <a:picLocks noChangeAspect="1"/>
          </p:cNvPicPr>
          <p:nvPr/>
        </p:nvPicPr>
        <p:blipFill>
          <a:blip r:embed="rId4"/>
          <a:stretch>
            <a:fillRect/>
          </a:stretch>
        </p:blipFill>
        <p:spPr>
          <a:xfrm>
            <a:off x="4819926" y="530558"/>
            <a:ext cx="3267681" cy="2660768"/>
          </a:xfrm>
          <a:prstGeom prst="rect">
            <a:avLst/>
          </a:prstGeom>
        </p:spPr>
      </p:pic>
      <p:pic>
        <p:nvPicPr>
          <p:cNvPr id="8" name="Picture 7">
            <a:extLst>
              <a:ext uri="{FF2B5EF4-FFF2-40B4-BE49-F238E27FC236}">
                <a16:creationId xmlns:a16="http://schemas.microsoft.com/office/drawing/2014/main" id="{F953D409-1E21-0FA6-013E-003EE84405FC}"/>
              </a:ext>
            </a:extLst>
          </p:cNvPr>
          <p:cNvPicPr>
            <a:picLocks noChangeAspect="1"/>
          </p:cNvPicPr>
          <p:nvPr/>
        </p:nvPicPr>
        <p:blipFill>
          <a:blip r:embed="rId5"/>
          <a:stretch>
            <a:fillRect/>
          </a:stretch>
        </p:blipFill>
        <p:spPr>
          <a:xfrm>
            <a:off x="891468" y="3373689"/>
            <a:ext cx="3807030" cy="3046540"/>
          </a:xfrm>
          <a:prstGeom prst="rect">
            <a:avLst/>
          </a:prstGeom>
        </p:spPr>
      </p:pic>
      <p:pic>
        <p:nvPicPr>
          <p:cNvPr id="10" name="Picture 9">
            <a:extLst>
              <a:ext uri="{FF2B5EF4-FFF2-40B4-BE49-F238E27FC236}">
                <a16:creationId xmlns:a16="http://schemas.microsoft.com/office/drawing/2014/main" id="{D6AF829C-9FDB-6131-872E-7C433AC8F6DF}"/>
              </a:ext>
            </a:extLst>
          </p:cNvPr>
          <p:cNvPicPr>
            <a:picLocks noChangeAspect="1"/>
          </p:cNvPicPr>
          <p:nvPr/>
        </p:nvPicPr>
        <p:blipFill>
          <a:blip r:embed="rId6"/>
          <a:stretch>
            <a:fillRect/>
          </a:stretch>
        </p:blipFill>
        <p:spPr>
          <a:xfrm>
            <a:off x="584548" y="498567"/>
            <a:ext cx="3807031" cy="2745981"/>
          </a:xfrm>
          <a:prstGeom prst="rect">
            <a:avLst/>
          </a:prstGeom>
        </p:spPr>
      </p:pic>
    </p:spTree>
    <p:extLst>
      <p:ext uri="{BB962C8B-B14F-4D97-AF65-F5344CB8AC3E}">
        <p14:creationId xmlns:p14="http://schemas.microsoft.com/office/powerpoint/2010/main" val="1492123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492614E-ACA6-5555-7D61-4E192F199BA8}"/>
              </a:ext>
            </a:extLst>
          </p:cNvPr>
          <p:cNvPicPr>
            <a:picLocks noChangeAspect="1"/>
          </p:cNvPicPr>
          <p:nvPr/>
        </p:nvPicPr>
        <p:blipFill>
          <a:blip r:embed="rId2"/>
          <a:srcRect t="2281"/>
          <a:stretch>
            <a:fillRect/>
          </a:stretch>
        </p:blipFill>
        <p:spPr>
          <a:xfrm>
            <a:off x="662517" y="2156790"/>
            <a:ext cx="5294716" cy="4035647"/>
          </a:xfrm>
          <a:prstGeom prst="rect">
            <a:avLst/>
          </a:prstGeom>
        </p:spPr>
      </p:pic>
      <p:pic>
        <p:nvPicPr>
          <p:cNvPr id="9" name="Picture 8">
            <a:extLst>
              <a:ext uri="{FF2B5EF4-FFF2-40B4-BE49-F238E27FC236}">
                <a16:creationId xmlns:a16="http://schemas.microsoft.com/office/drawing/2014/main" id="{FBF5B252-D3D9-5EB3-A5A6-25BE03DCA048}"/>
              </a:ext>
            </a:extLst>
          </p:cNvPr>
          <p:cNvPicPr>
            <a:picLocks noChangeAspect="1"/>
          </p:cNvPicPr>
          <p:nvPr/>
        </p:nvPicPr>
        <p:blipFill>
          <a:blip r:embed="rId3"/>
          <a:stretch>
            <a:fillRect/>
          </a:stretch>
        </p:blipFill>
        <p:spPr>
          <a:xfrm>
            <a:off x="6272867" y="2062561"/>
            <a:ext cx="5294715" cy="4129877"/>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EE016F-4B30-8E63-5AF3-A75FED75A907}"/>
                  </a:ext>
                </a:extLst>
              </p:cNvPr>
              <p:cNvSpPr txBox="1"/>
              <p:nvPr/>
            </p:nvSpPr>
            <p:spPr>
              <a:xfrm>
                <a:off x="1662112" y="415814"/>
                <a:ext cx="8334375" cy="1448795"/>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i="1">
                              <a:latin typeface="Cambria Math" panose="02040503050406030204" pitchFamily="18" charset="0"/>
                            </a:rPr>
                            <m:t>𝐹</m:t>
                          </m:r>
                        </m:e>
                        <m:sub>
                          <m:r>
                            <a:rPr lang="en-US" sz="1800" i="1">
                              <a:latin typeface="Cambria Math" panose="02040503050406030204" pitchFamily="18" charset="0"/>
                            </a:rPr>
                            <m:t>𝑦</m:t>
                          </m:r>
                        </m:sub>
                      </m:sSub>
                      <m:r>
                        <m:rPr>
                          <m:nor/>
                        </m:rPr>
                        <a:rPr lang="en-US" sz="1800">
                          <a:latin typeface="Cambria Math" panose="02040503050406030204" pitchFamily="18" charset="0"/>
                        </a:rPr>
                        <m:t> =</m:t>
                      </m:r>
                      <m:r>
                        <m:rPr>
                          <m:nor/>
                        </m:rPr>
                        <a:rPr lang="en-US" sz="1800">
                          <a:latin typeface="Cambria Math" panose="02040503050406030204" pitchFamily="18" charset="0"/>
                        </a:rPr>
                        <m:t>D</m:t>
                      </m:r>
                      <m:r>
                        <m:rPr>
                          <m:nor/>
                        </m:rPr>
                        <a:rPr lang="en-US" sz="1800">
                          <a:latin typeface="Cambria Math" panose="02040503050406030204" pitchFamily="18" charset="0"/>
                        </a:rPr>
                        <m:t> </m:t>
                      </m:r>
                      <m:r>
                        <m:rPr>
                          <m:nor/>
                        </m:rPr>
                        <a:rPr lang="en-US" sz="1800">
                          <a:latin typeface="Cambria Math" panose="02040503050406030204" pitchFamily="18" charset="0"/>
                        </a:rPr>
                        <m:t>sin</m:t>
                      </m:r>
                      <m:d>
                        <m:dPr>
                          <m:ctrlPr>
                            <a:rPr lang="en-US" sz="1800" i="1">
                              <a:latin typeface="Cambria Math" panose="02040503050406030204" pitchFamily="18" charset="0"/>
                            </a:rPr>
                          </m:ctrlPr>
                        </m:dPr>
                        <m:e>
                          <m:r>
                            <m:rPr>
                              <m:nor/>
                            </m:rPr>
                            <a:rPr lang="en-US" sz="1800">
                              <a:latin typeface="Cambria Math" panose="02040503050406030204" pitchFamily="18" charset="0"/>
                            </a:rPr>
                            <m:t>C</m:t>
                          </m:r>
                          <m:r>
                            <m:rPr>
                              <m:nor/>
                            </m:rPr>
                            <a:rPr lang="en-US" sz="1800">
                              <a:latin typeface="Cambria Math" panose="02040503050406030204" pitchFamily="18" charset="0"/>
                            </a:rPr>
                            <m:t>  </m:t>
                          </m:r>
                          <m:r>
                            <m:rPr>
                              <m:nor/>
                            </m:rPr>
                            <a:rPr lang="en-US" sz="1800">
                              <a:latin typeface="Cambria Math" panose="02040503050406030204" pitchFamily="18" charset="0"/>
                            </a:rPr>
                            <m:t>arctan</m:t>
                          </m:r>
                          <m:d>
                            <m:dPr>
                              <m:ctrlPr>
                                <a:rPr lang="en-US" sz="1800" i="1">
                                  <a:latin typeface="Cambria Math" panose="02040503050406030204" pitchFamily="18" charset="0"/>
                                </a:rPr>
                              </m:ctrlPr>
                            </m:dPr>
                            <m:e>
                              <m:r>
                                <m:rPr>
                                  <m:nor/>
                                </m:rPr>
                                <a:rPr lang="en-US" sz="1800">
                                  <a:latin typeface="Cambria Math" panose="02040503050406030204" pitchFamily="18" charset="0"/>
                                </a:rPr>
                                <m:t>Bα</m:t>
                              </m:r>
                              <m:r>
                                <m:rPr>
                                  <m:nor/>
                                </m:rPr>
                                <a:rPr lang="en-US" sz="1800">
                                  <a:latin typeface="Cambria Math" panose="02040503050406030204" pitchFamily="18" charset="0"/>
                                </a:rPr>
                                <m:t>− </m:t>
                              </m:r>
                              <m:r>
                                <m:rPr>
                                  <m:nor/>
                                </m:rPr>
                                <a:rPr lang="en-US" sz="1800">
                                  <a:latin typeface="Cambria Math" panose="02040503050406030204" pitchFamily="18" charset="0"/>
                                </a:rPr>
                                <m:t>E</m:t>
                              </m:r>
                              <m:d>
                                <m:dPr>
                                  <m:ctrlPr>
                                    <a:rPr lang="en-US" sz="1800" i="1">
                                      <a:latin typeface="Cambria Math" panose="02040503050406030204" pitchFamily="18" charset="0"/>
                                    </a:rPr>
                                  </m:ctrlPr>
                                </m:dPr>
                                <m:e>
                                  <m:r>
                                    <m:rPr>
                                      <m:nor/>
                                    </m:rPr>
                                    <a:rPr lang="en-US" sz="1800">
                                      <a:latin typeface="Cambria Math" panose="02040503050406030204" pitchFamily="18" charset="0"/>
                                    </a:rPr>
                                    <m:t>Bα</m:t>
                                  </m:r>
                                  <m:r>
                                    <m:rPr>
                                      <m:nor/>
                                    </m:rPr>
                                    <a:rPr lang="en-US" sz="1800">
                                      <a:latin typeface="Cambria Math" panose="02040503050406030204" pitchFamily="18" charset="0"/>
                                    </a:rPr>
                                    <m:t>− </m:t>
                                  </m:r>
                                  <m:r>
                                    <m:rPr>
                                      <m:nor/>
                                    </m:rPr>
                                    <a:rPr lang="en-US" sz="1800">
                                      <a:latin typeface="Cambria Math" panose="02040503050406030204" pitchFamily="18" charset="0"/>
                                    </a:rPr>
                                    <m:t>arctan</m:t>
                                  </m:r>
                                  <m:d>
                                    <m:dPr>
                                      <m:ctrlPr>
                                        <a:rPr lang="en-US" sz="1800" i="1">
                                          <a:latin typeface="Cambria Math" panose="02040503050406030204" pitchFamily="18" charset="0"/>
                                        </a:rPr>
                                      </m:ctrlPr>
                                    </m:dPr>
                                    <m:e>
                                      <m:r>
                                        <m:rPr>
                                          <m:nor/>
                                        </m:rPr>
                                        <a:rPr lang="en-US" sz="1800">
                                          <a:latin typeface="Cambria Math" panose="02040503050406030204" pitchFamily="18" charset="0"/>
                                        </a:rPr>
                                        <m:t>Bα</m:t>
                                      </m:r>
                                    </m:e>
                                  </m:d>
                                </m:e>
                              </m:d>
                            </m:e>
                          </m:d>
                        </m:e>
                      </m:d>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𝑣</m:t>
                          </m:r>
                        </m:sub>
                      </m:sSub>
                    </m:oMath>
                  </m:oMathPara>
                </a14:m>
                <a:endParaRPr lang="en-US" sz="1800" i="1" dirty="0">
                  <a:latin typeface="Cambria Math" panose="02040503050406030204" pitchFamily="18" charset="0"/>
                </a:endParaRPr>
              </a:p>
              <a:p>
                <a:pPr lvl="1" algn="ctr"/>
                <a:r>
                  <a:rPr lang="en-US" i="1" dirty="0">
                    <a:latin typeface="Cambria Math" panose="02040503050406030204" pitchFamily="18" charset="0"/>
                  </a:rPr>
                  <a:t>Load Sensitivity of .974</a:t>
                </a:r>
                <a:endParaRPr lang="en-US" sz="1800" i="1" dirty="0">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𝛼</m:t>
                      </m:r>
                      <m:r>
                        <a:rPr lang="en-US" sz="1800" i="1">
                          <a:latin typeface="Cambria Math" panose="02040503050406030204" pitchFamily="18" charset="0"/>
                        </a:rPr>
                        <m:t>=</m:t>
                      </m:r>
                      <m:r>
                        <a:rPr lang="en-US" sz="1800" i="1">
                          <a:latin typeface="Cambria Math" panose="02040503050406030204" pitchFamily="18" charset="0"/>
                        </a:rPr>
                        <m:t>𝛼</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𝐻</m:t>
                          </m:r>
                        </m:sub>
                      </m:sSub>
                      <m:r>
                        <a:rPr lang="en-US" sz="1800" i="1">
                          <a:latin typeface="Cambria Math" panose="02040503050406030204" pitchFamily="18" charset="0"/>
                        </a:rPr>
                        <m:t>,  </m:t>
                      </m:r>
                      <m:r>
                        <a:rPr lang="en-US" sz="1800" i="1">
                          <a:latin typeface="Cambria Math" panose="02040503050406030204" pitchFamily="18" charset="0"/>
                        </a:rPr>
                        <m:t>𝐵</m:t>
                      </m:r>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13</m:t>
                          </m:r>
                        </m:num>
                        <m:den>
                          <m:r>
                            <a:rPr lang="en-US" sz="1800" i="1">
                              <a:latin typeface="Cambria Math" panose="02040503050406030204" pitchFamily="18" charset="0"/>
                            </a:rPr>
                            <m:t>400</m:t>
                          </m:r>
                          <m:sSubSup>
                            <m:sSubSupPr>
                              <m:ctrlPr>
                                <a:rPr lang="en-US" sz="1800" i="1">
                                  <a:latin typeface="Cambria Math" panose="02040503050406030204" pitchFamily="18" charset="0"/>
                                </a:rPr>
                              </m:ctrlPr>
                            </m:sSubSupPr>
                            <m:e>
                              <m:r>
                                <a:rPr lang="en-US" sz="1800" i="1">
                                  <a:latin typeface="Cambria Math" panose="02040503050406030204" pitchFamily="18" charset="0"/>
                                </a:rPr>
                                <m:t>𝐹</m:t>
                              </m:r>
                            </m:e>
                            <m:sub>
                              <m:r>
                                <a:rPr lang="en-US" sz="1800" i="1">
                                  <a:latin typeface="Cambria Math" panose="02040503050406030204" pitchFamily="18" charset="0"/>
                                </a:rPr>
                                <m:t>𝑁</m:t>
                              </m:r>
                            </m:sub>
                            <m:sup>
                              <m:r>
                                <a:rPr lang="en-US" sz="1800" i="1">
                                  <a:latin typeface="Cambria Math" panose="02040503050406030204" pitchFamily="18" charset="0"/>
                                </a:rPr>
                                <m:t>0.2</m:t>
                              </m:r>
                            </m:sup>
                          </m:sSubSup>
                        </m:den>
                      </m:f>
                      <m:r>
                        <a:rPr lang="en-US" sz="1800" i="1">
                          <a:latin typeface="Cambria Math" panose="02040503050406030204" pitchFamily="18" charset="0"/>
                        </a:rPr>
                        <m:t>,  </m:t>
                      </m:r>
                      <m:r>
                        <a:rPr lang="en-US" sz="1800" i="1">
                          <a:latin typeface="Cambria Math" panose="02040503050406030204" pitchFamily="18" charset="0"/>
                        </a:rPr>
                        <m:t>𝐶</m:t>
                      </m:r>
                      <m:r>
                        <a:rPr lang="en-US" sz="1800" i="1">
                          <a:latin typeface="Cambria Math" panose="02040503050406030204" pitchFamily="18" charset="0"/>
                        </a:rPr>
                        <m:t>=1.3,  </m:t>
                      </m:r>
                      <m:r>
                        <a:rPr lang="en-US" sz="1800" i="1">
                          <a:latin typeface="Cambria Math" panose="02040503050406030204" pitchFamily="18" charset="0"/>
                        </a:rPr>
                        <m:t>𝐷</m:t>
                      </m:r>
                      <m:r>
                        <a:rPr lang="en-US" sz="1800" i="1">
                          <a:latin typeface="Cambria Math" panose="02040503050406030204" pitchFamily="18" charset="0"/>
                        </a:rPr>
                        <m:t>=3.2∗</m:t>
                      </m:r>
                      <m:sSubSup>
                        <m:sSubSupPr>
                          <m:ctrlPr>
                            <a:rPr lang="en-US" sz="1800" i="1">
                              <a:latin typeface="Cambria Math" panose="02040503050406030204" pitchFamily="18" charset="0"/>
                            </a:rPr>
                          </m:ctrlPr>
                        </m:sSubSupPr>
                        <m:e>
                          <m:r>
                            <a:rPr lang="en-US" sz="1800" i="1">
                              <a:latin typeface="Cambria Math" panose="02040503050406030204" pitchFamily="18" charset="0"/>
                            </a:rPr>
                            <m:t>𝐹</m:t>
                          </m:r>
                        </m:e>
                        <m:sub>
                          <m:r>
                            <a:rPr lang="en-US" sz="1800" i="1">
                              <a:latin typeface="Cambria Math" panose="02040503050406030204" pitchFamily="18" charset="0"/>
                            </a:rPr>
                            <m:t>𝑁</m:t>
                          </m:r>
                        </m:sub>
                        <m:sup>
                          <m:r>
                            <a:rPr lang="en-US" sz="1800" i="1">
                              <a:latin typeface="Cambria Math" panose="02040503050406030204" pitchFamily="18" charset="0"/>
                            </a:rPr>
                            <m:t>0.974</m:t>
                          </m:r>
                        </m:sup>
                      </m:sSubSup>
                      <m:r>
                        <a:rPr lang="en-US" sz="1800" i="1">
                          <a:latin typeface="Cambria Math" panose="02040503050406030204" pitchFamily="18" charset="0"/>
                        </a:rPr>
                        <m:t>,  </m:t>
                      </m:r>
                      <m:r>
                        <a:rPr lang="en-US" sz="1800" i="1">
                          <a:latin typeface="Cambria Math" panose="02040503050406030204" pitchFamily="18" charset="0"/>
                        </a:rPr>
                        <m:t>𝐸</m:t>
                      </m:r>
                      <m:r>
                        <a:rPr lang="en-US" sz="1800" i="1">
                          <a:latin typeface="Cambria Math" panose="02040503050406030204" pitchFamily="18" charset="0"/>
                        </a:rPr>
                        <m:t>=.97</m:t>
                      </m:r>
                    </m:oMath>
                  </m:oMathPara>
                </a14:m>
                <a:endParaRPr lang="en-US" sz="1800" dirty="0"/>
              </a:p>
            </p:txBody>
          </p:sp>
        </mc:Choice>
        <mc:Fallback xmlns="">
          <p:sp>
            <p:nvSpPr>
              <p:cNvPr id="11" name="TextBox 10">
                <a:extLst>
                  <a:ext uri="{FF2B5EF4-FFF2-40B4-BE49-F238E27FC236}">
                    <a16:creationId xmlns:a16="http://schemas.microsoft.com/office/drawing/2014/main" id="{EDEE016F-4B30-8E63-5AF3-A75FED75A907}"/>
                  </a:ext>
                </a:extLst>
              </p:cNvPr>
              <p:cNvSpPr txBox="1">
                <a:spLocks noRot="1" noChangeAspect="1" noMove="1" noResize="1" noEditPoints="1" noAdjustHandles="1" noChangeArrowheads="1" noChangeShapeType="1" noTextEdit="1"/>
              </p:cNvSpPr>
              <p:nvPr/>
            </p:nvSpPr>
            <p:spPr>
              <a:xfrm>
                <a:off x="1662112" y="415814"/>
                <a:ext cx="8334375" cy="144879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31385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038C38-E608-CA61-D25C-8BBD8CDF167A}"/>
              </a:ext>
            </a:extLst>
          </p:cNvPr>
          <p:cNvSpPr>
            <a:spLocks noGrp="1"/>
          </p:cNvSpPr>
          <p:nvPr>
            <p:ph idx="1"/>
          </p:nvPr>
        </p:nvSpPr>
        <p:spPr>
          <a:xfrm>
            <a:off x="638174" y="492125"/>
            <a:ext cx="7231207" cy="584200"/>
          </a:xfrm>
        </p:spPr>
        <p:txBody>
          <a:bodyPr>
            <a:normAutofit fontScale="77500" lnSpcReduction="20000"/>
          </a:bodyPr>
          <a:lstStyle/>
          <a:p>
            <a:pPr marL="0" indent="0">
              <a:buNone/>
            </a:pPr>
            <a:r>
              <a:rPr lang="en-US"/>
              <a:t>Aero justification- dramatically helps </a:t>
            </a:r>
            <a:r>
              <a:rPr lang="en-US" err="1"/>
              <a:t>midspeed</a:t>
            </a:r>
            <a:r>
              <a:rPr lang="en-US"/>
              <a:t> corners (</a:t>
            </a:r>
            <a:r>
              <a:rPr lang="en-US" err="1"/>
              <a:t>lowspeed</a:t>
            </a:r>
            <a:r>
              <a:rPr lang="en-US"/>
              <a:t> is tire limited, highspeed is engine and drag</a:t>
            </a:r>
          </a:p>
        </p:txBody>
      </p:sp>
      <p:pic>
        <p:nvPicPr>
          <p:cNvPr id="4" name="Picture 3">
            <a:extLst>
              <a:ext uri="{FF2B5EF4-FFF2-40B4-BE49-F238E27FC236}">
                <a16:creationId xmlns:a16="http://schemas.microsoft.com/office/drawing/2014/main" id="{70667F44-75C8-8F96-AF8F-57B0D299D506}"/>
              </a:ext>
            </a:extLst>
          </p:cNvPr>
          <p:cNvPicPr>
            <a:picLocks noChangeAspect="1"/>
          </p:cNvPicPr>
          <p:nvPr/>
        </p:nvPicPr>
        <p:blipFill>
          <a:blip r:embed="rId2"/>
          <a:srcRect t="49275"/>
          <a:stretch>
            <a:fillRect/>
          </a:stretch>
        </p:blipFill>
        <p:spPr>
          <a:xfrm>
            <a:off x="47469" y="3989539"/>
            <a:ext cx="3534268" cy="2807509"/>
          </a:xfrm>
          <a:prstGeom prst="rect">
            <a:avLst/>
          </a:prstGeom>
        </p:spPr>
      </p:pic>
      <p:pic>
        <p:nvPicPr>
          <p:cNvPr id="5" name="Picture 4">
            <a:extLst>
              <a:ext uri="{FF2B5EF4-FFF2-40B4-BE49-F238E27FC236}">
                <a16:creationId xmlns:a16="http://schemas.microsoft.com/office/drawing/2014/main" id="{E516B130-423D-FEE8-35CC-A4E80CC4605A}"/>
              </a:ext>
            </a:extLst>
          </p:cNvPr>
          <p:cNvPicPr>
            <a:picLocks noChangeAspect="1"/>
          </p:cNvPicPr>
          <p:nvPr/>
        </p:nvPicPr>
        <p:blipFill>
          <a:blip r:embed="rId3"/>
          <a:srcRect l="1651" t="51318" r="4624" b="1077"/>
          <a:stretch>
            <a:fillRect/>
          </a:stretch>
        </p:blipFill>
        <p:spPr>
          <a:xfrm>
            <a:off x="57149" y="1149350"/>
            <a:ext cx="3244851" cy="2635250"/>
          </a:xfrm>
          <a:prstGeom prst="rect">
            <a:avLst/>
          </a:prstGeom>
        </p:spPr>
      </p:pic>
      <p:pic>
        <p:nvPicPr>
          <p:cNvPr id="13" name="Picture 12">
            <a:extLst>
              <a:ext uri="{FF2B5EF4-FFF2-40B4-BE49-F238E27FC236}">
                <a16:creationId xmlns:a16="http://schemas.microsoft.com/office/drawing/2014/main" id="{FAF63403-2ABF-C134-6995-D120336161E6}"/>
              </a:ext>
            </a:extLst>
          </p:cNvPr>
          <p:cNvPicPr>
            <a:picLocks noChangeAspect="1"/>
          </p:cNvPicPr>
          <p:nvPr/>
        </p:nvPicPr>
        <p:blipFill>
          <a:blip r:embed="rId4"/>
          <a:stretch>
            <a:fillRect/>
          </a:stretch>
        </p:blipFill>
        <p:spPr>
          <a:xfrm>
            <a:off x="8048061" y="321652"/>
            <a:ext cx="3010320" cy="447737"/>
          </a:xfrm>
          <a:prstGeom prst="rect">
            <a:avLst/>
          </a:prstGeom>
        </p:spPr>
      </p:pic>
      <p:cxnSp>
        <p:nvCxnSpPr>
          <p:cNvPr id="19" name="Straight Arrow Connector 18">
            <a:extLst>
              <a:ext uri="{FF2B5EF4-FFF2-40B4-BE49-F238E27FC236}">
                <a16:creationId xmlns:a16="http://schemas.microsoft.com/office/drawing/2014/main" id="{AC28B4E3-1E8E-52C5-31DA-E1929DADC9A1}"/>
              </a:ext>
            </a:extLst>
          </p:cNvPr>
          <p:cNvCxnSpPr/>
          <p:nvPr/>
        </p:nvCxnSpPr>
        <p:spPr>
          <a:xfrm>
            <a:off x="4758037" y="3989539"/>
            <a:ext cx="1238250" cy="0"/>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pic>
        <p:nvPicPr>
          <p:cNvPr id="25" name="Picture 24">
            <a:extLst>
              <a:ext uri="{FF2B5EF4-FFF2-40B4-BE49-F238E27FC236}">
                <a16:creationId xmlns:a16="http://schemas.microsoft.com/office/drawing/2014/main" id="{0C607175-6485-996E-9306-8203894A9D02}"/>
              </a:ext>
            </a:extLst>
          </p:cNvPr>
          <p:cNvPicPr>
            <a:picLocks noChangeAspect="1"/>
          </p:cNvPicPr>
          <p:nvPr/>
        </p:nvPicPr>
        <p:blipFill>
          <a:blip r:embed="rId5"/>
          <a:srcRect l="4675" t="2879" r="3815" b="7900"/>
          <a:stretch>
            <a:fillRect/>
          </a:stretch>
        </p:blipFill>
        <p:spPr>
          <a:xfrm>
            <a:off x="3594100" y="1224356"/>
            <a:ext cx="3308350" cy="2477694"/>
          </a:xfrm>
          <a:prstGeom prst="rect">
            <a:avLst/>
          </a:prstGeom>
        </p:spPr>
      </p:pic>
      <p:pic>
        <p:nvPicPr>
          <p:cNvPr id="2" name="Picture 1">
            <a:extLst>
              <a:ext uri="{FF2B5EF4-FFF2-40B4-BE49-F238E27FC236}">
                <a16:creationId xmlns:a16="http://schemas.microsoft.com/office/drawing/2014/main" id="{37891CF0-3DAE-27FB-BF33-E0E364DDD16C}"/>
              </a:ext>
            </a:extLst>
          </p:cNvPr>
          <p:cNvPicPr>
            <a:picLocks noChangeAspect="1"/>
          </p:cNvPicPr>
          <p:nvPr/>
        </p:nvPicPr>
        <p:blipFill>
          <a:blip r:embed="rId6"/>
          <a:srcRect t="1749" r="1571"/>
          <a:stretch>
            <a:fillRect/>
          </a:stretch>
        </p:blipFill>
        <p:spPr>
          <a:xfrm>
            <a:off x="5075997" y="4137570"/>
            <a:ext cx="3578302" cy="2720430"/>
          </a:xfrm>
          <a:prstGeom prst="rect">
            <a:avLst/>
          </a:prstGeom>
        </p:spPr>
      </p:pic>
      <p:pic>
        <p:nvPicPr>
          <p:cNvPr id="6" name="Picture 5">
            <a:extLst>
              <a:ext uri="{FF2B5EF4-FFF2-40B4-BE49-F238E27FC236}">
                <a16:creationId xmlns:a16="http://schemas.microsoft.com/office/drawing/2014/main" id="{8C7BC9B7-E778-7FE7-1522-329BE95EC5A4}"/>
              </a:ext>
            </a:extLst>
          </p:cNvPr>
          <p:cNvPicPr>
            <a:picLocks noChangeAspect="1"/>
          </p:cNvPicPr>
          <p:nvPr/>
        </p:nvPicPr>
        <p:blipFill>
          <a:blip r:embed="rId7"/>
          <a:stretch>
            <a:fillRect/>
          </a:stretch>
        </p:blipFill>
        <p:spPr>
          <a:xfrm>
            <a:off x="8924320" y="1277638"/>
            <a:ext cx="3267680" cy="2685599"/>
          </a:xfrm>
          <a:prstGeom prst="rect">
            <a:avLst/>
          </a:prstGeom>
        </p:spPr>
      </p:pic>
      <p:pic>
        <p:nvPicPr>
          <p:cNvPr id="7" name="Picture 6">
            <a:extLst>
              <a:ext uri="{FF2B5EF4-FFF2-40B4-BE49-F238E27FC236}">
                <a16:creationId xmlns:a16="http://schemas.microsoft.com/office/drawing/2014/main" id="{3BA1237B-AE98-AC06-75C9-7249903D4F69}"/>
              </a:ext>
            </a:extLst>
          </p:cNvPr>
          <p:cNvPicPr>
            <a:picLocks noChangeAspect="1"/>
          </p:cNvPicPr>
          <p:nvPr/>
        </p:nvPicPr>
        <p:blipFill>
          <a:blip r:embed="rId8"/>
          <a:stretch>
            <a:fillRect/>
          </a:stretch>
        </p:blipFill>
        <p:spPr>
          <a:xfrm>
            <a:off x="8683669" y="4050491"/>
            <a:ext cx="3508331" cy="2807509"/>
          </a:xfrm>
          <a:prstGeom prst="rect">
            <a:avLst/>
          </a:prstGeom>
        </p:spPr>
      </p:pic>
    </p:spTree>
    <p:extLst>
      <p:ext uri="{BB962C8B-B14F-4D97-AF65-F5344CB8AC3E}">
        <p14:creationId xmlns:p14="http://schemas.microsoft.com/office/powerpoint/2010/main" val="2868045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0ACA0719-D92B-FE77-51B1-ACC0E8D1DD6F}"/>
              </a:ext>
            </a:extLst>
          </p:cNvPr>
          <p:cNvPicPr>
            <a:picLocks noChangeAspect="1"/>
          </p:cNvPicPr>
          <p:nvPr/>
        </p:nvPicPr>
        <p:blipFill>
          <a:blip r:embed="rId2"/>
          <a:stretch>
            <a:fillRect/>
          </a:stretch>
        </p:blipFill>
        <p:spPr>
          <a:xfrm>
            <a:off x="599948" y="522600"/>
            <a:ext cx="3433360" cy="2674827"/>
          </a:xfrm>
          <a:prstGeom prst="rect">
            <a:avLst/>
          </a:prstGeom>
        </p:spPr>
      </p:pic>
      <p:sp>
        <p:nvSpPr>
          <p:cNvPr id="28" name="Oval 27">
            <a:extLst>
              <a:ext uri="{FF2B5EF4-FFF2-40B4-BE49-F238E27FC236}">
                <a16:creationId xmlns:a16="http://schemas.microsoft.com/office/drawing/2014/main" id="{D96E516B-3F6D-7B36-6503-EA82D27B76F8}"/>
              </a:ext>
            </a:extLst>
          </p:cNvPr>
          <p:cNvSpPr/>
          <p:nvPr/>
        </p:nvSpPr>
        <p:spPr>
          <a:xfrm rot="20813167">
            <a:off x="1237833" y="1358104"/>
            <a:ext cx="2323662" cy="639400"/>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1949410-4E47-3143-A386-5E603DFD2DD4}"/>
              </a:ext>
            </a:extLst>
          </p:cNvPr>
          <p:cNvSpPr txBox="1"/>
          <p:nvPr/>
        </p:nvSpPr>
        <p:spPr>
          <a:xfrm>
            <a:off x="1244600" y="103377"/>
            <a:ext cx="3181350" cy="369332"/>
          </a:xfrm>
          <a:prstGeom prst="rect">
            <a:avLst/>
          </a:prstGeom>
          <a:noFill/>
        </p:spPr>
        <p:txBody>
          <a:bodyPr wrap="square" rtlCol="0">
            <a:spAutoFit/>
          </a:bodyPr>
          <a:lstStyle/>
          <a:p>
            <a:r>
              <a:rPr lang="en-US"/>
              <a:t>No Aero Operating condition</a:t>
            </a:r>
          </a:p>
        </p:txBody>
      </p:sp>
      <p:pic>
        <p:nvPicPr>
          <p:cNvPr id="45" name="Picture 44">
            <a:extLst>
              <a:ext uri="{FF2B5EF4-FFF2-40B4-BE49-F238E27FC236}">
                <a16:creationId xmlns:a16="http://schemas.microsoft.com/office/drawing/2014/main" id="{3E0B2D1F-F70A-11E0-71B7-68242843755F}"/>
              </a:ext>
            </a:extLst>
          </p:cNvPr>
          <p:cNvPicPr>
            <a:picLocks noChangeAspect="1"/>
          </p:cNvPicPr>
          <p:nvPr/>
        </p:nvPicPr>
        <p:blipFill>
          <a:blip r:embed="rId3"/>
          <a:stretch>
            <a:fillRect/>
          </a:stretch>
        </p:blipFill>
        <p:spPr>
          <a:xfrm>
            <a:off x="13148000" y="-3021675"/>
            <a:ext cx="3816151" cy="12438203"/>
          </a:xfrm>
          <a:prstGeom prst="rect">
            <a:avLst/>
          </a:prstGeom>
        </p:spPr>
      </p:pic>
      <p:pic>
        <p:nvPicPr>
          <p:cNvPr id="47" name="Picture 46">
            <a:extLst>
              <a:ext uri="{FF2B5EF4-FFF2-40B4-BE49-F238E27FC236}">
                <a16:creationId xmlns:a16="http://schemas.microsoft.com/office/drawing/2014/main" id="{D34C3A50-0640-B5B3-920C-552B9D23ECD8}"/>
              </a:ext>
            </a:extLst>
          </p:cNvPr>
          <p:cNvPicPr>
            <a:picLocks noChangeAspect="1"/>
          </p:cNvPicPr>
          <p:nvPr/>
        </p:nvPicPr>
        <p:blipFill>
          <a:blip r:embed="rId4"/>
          <a:srcRect l="2319"/>
          <a:stretch>
            <a:fillRect/>
          </a:stretch>
        </p:blipFill>
        <p:spPr>
          <a:xfrm>
            <a:off x="8629781" y="273156"/>
            <a:ext cx="3472478" cy="2867425"/>
          </a:xfrm>
          <a:prstGeom prst="rect">
            <a:avLst/>
          </a:prstGeom>
        </p:spPr>
      </p:pic>
      <p:pic>
        <p:nvPicPr>
          <p:cNvPr id="49" name="Picture 48">
            <a:extLst>
              <a:ext uri="{FF2B5EF4-FFF2-40B4-BE49-F238E27FC236}">
                <a16:creationId xmlns:a16="http://schemas.microsoft.com/office/drawing/2014/main" id="{E790FF28-F294-AF3B-69FB-2A84B98C3606}"/>
              </a:ext>
            </a:extLst>
          </p:cNvPr>
          <p:cNvPicPr>
            <a:picLocks noChangeAspect="1"/>
          </p:cNvPicPr>
          <p:nvPr/>
        </p:nvPicPr>
        <p:blipFill>
          <a:blip r:embed="rId5"/>
          <a:srcRect t="1293"/>
          <a:stretch>
            <a:fillRect/>
          </a:stretch>
        </p:blipFill>
        <p:spPr>
          <a:xfrm>
            <a:off x="4599551" y="273155"/>
            <a:ext cx="3552555" cy="2867425"/>
          </a:xfrm>
          <a:prstGeom prst="rect">
            <a:avLst/>
          </a:prstGeom>
        </p:spPr>
      </p:pic>
      <p:pic>
        <p:nvPicPr>
          <p:cNvPr id="51" name="Picture 50">
            <a:extLst>
              <a:ext uri="{FF2B5EF4-FFF2-40B4-BE49-F238E27FC236}">
                <a16:creationId xmlns:a16="http://schemas.microsoft.com/office/drawing/2014/main" id="{7EAB47E9-4841-B384-43A2-914BEBBF82D4}"/>
              </a:ext>
            </a:extLst>
          </p:cNvPr>
          <p:cNvPicPr>
            <a:picLocks noChangeAspect="1"/>
          </p:cNvPicPr>
          <p:nvPr/>
        </p:nvPicPr>
        <p:blipFill>
          <a:blip r:embed="rId6"/>
          <a:srcRect t="2070" b="1793"/>
          <a:stretch>
            <a:fillRect/>
          </a:stretch>
        </p:blipFill>
        <p:spPr>
          <a:xfrm>
            <a:off x="8629781" y="3308210"/>
            <a:ext cx="3472477" cy="2756642"/>
          </a:xfrm>
          <a:prstGeom prst="rect">
            <a:avLst/>
          </a:prstGeom>
        </p:spPr>
      </p:pic>
      <p:pic>
        <p:nvPicPr>
          <p:cNvPr id="53" name="Picture 52">
            <a:extLst>
              <a:ext uri="{FF2B5EF4-FFF2-40B4-BE49-F238E27FC236}">
                <a16:creationId xmlns:a16="http://schemas.microsoft.com/office/drawing/2014/main" id="{D0201B5C-2C55-41BE-45AA-2FCB9C65C0C5}"/>
              </a:ext>
            </a:extLst>
          </p:cNvPr>
          <p:cNvPicPr>
            <a:picLocks noChangeAspect="1"/>
          </p:cNvPicPr>
          <p:nvPr/>
        </p:nvPicPr>
        <p:blipFill>
          <a:blip r:embed="rId7"/>
          <a:srcRect t="1578" b="2528"/>
          <a:stretch>
            <a:fillRect/>
          </a:stretch>
        </p:blipFill>
        <p:spPr>
          <a:xfrm>
            <a:off x="4649474" y="3308210"/>
            <a:ext cx="3472477" cy="2756642"/>
          </a:xfrm>
          <a:prstGeom prst="rect">
            <a:avLst/>
          </a:prstGeom>
        </p:spPr>
      </p:pic>
      <p:pic>
        <p:nvPicPr>
          <p:cNvPr id="55" name="Picture 54">
            <a:extLst>
              <a:ext uri="{FF2B5EF4-FFF2-40B4-BE49-F238E27FC236}">
                <a16:creationId xmlns:a16="http://schemas.microsoft.com/office/drawing/2014/main" id="{E4B37308-1C48-404C-47A5-B3811AAB85AA}"/>
              </a:ext>
            </a:extLst>
          </p:cNvPr>
          <p:cNvPicPr>
            <a:picLocks noChangeAspect="1"/>
          </p:cNvPicPr>
          <p:nvPr/>
        </p:nvPicPr>
        <p:blipFill>
          <a:blip r:embed="rId8"/>
          <a:stretch>
            <a:fillRect/>
          </a:stretch>
        </p:blipFill>
        <p:spPr>
          <a:xfrm>
            <a:off x="704718" y="3191388"/>
            <a:ext cx="3562847" cy="2829320"/>
          </a:xfrm>
          <a:prstGeom prst="rect">
            <a:avLst/>
          </a:prstGeom>
        </p:spPr>
      </p:pic>
    </p:spTree>
    <p:extLst>
      <p:ext uri="{BB962C8B-B14F-4D97-AF65-F5344CB8AC3E}">
        <p14:creationId xmlns:p14="http://schemas.microsoft.com/office/powerpoint/2010/main" val="3184556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DEE9-DA88-D221-D706-5FE1253A1514}"/>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D894B33F-C365-4114-8C5F-45B1FF1C4264}"/>
              </a:ext>
            </a:extLst>
          </p:cNvPr>
          <p:cNvPicPr>
            <a:picLocks noChangeAspect="1"/>
          </p:cNvPicPr>
          <p:nvPr/>
        </p:nvPicPr>
        <p:blipFill>
          <a:blip r:embed="rId2"/>
          <a:stretch>
            <a:fillRect/>
          </a:stretch>
        </p:blipFill>
        <p:spPr>
          <a:xfrm>
            <a:off x="599948" y="522600"/>
            <a:ext cx="3433360" cy="2674827"/>
          </a:xfrm>
          <a:prstGeom prst="rect">
            <a:avLst/>
          </a:prstGeom>
        </p:spPr>
      </p:pic>
      <p:sp>
        <p:nvSpPr>
          <p:cNvPr id="28" name="Oval 27">
            <a:extLst>
              <a:ext uri="{FF2B5EF4-FFF2-40B4-BE49-F238E27FC236}">
                <a16:creationId xmlns:a16="http://schemas.microsoft.com/office/drawing/2014/main" id="{EA5DE005-0D29-715C-CE26-99CE839171B1}"/>
              </a:ext>
            </a:extLst>
          </p:cNvPr>
          <p:cNvSpPr/>
          <p:nvPr/>
        </p:nvSpPr>
        <p:spPr>
          <a:xfrm rot="20813167">
            <a:off x="1315511" y="1101303"/>
            <a:ext cx="2323662" cy="892164"/>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3603AF9-E5C0-D32A-07BA-E58D4384B1FF}"/>
              </a:ext>
            </a:extLst>
          </p:cNvPr>
          <p:cNvSpPr txBox="1"/>
          <p:nvPr/>
        </p:nvSpPr>
        <p:spPr>
          <a:xfrm>
            <a:off x="1244600" y="103377"/>
            <a:ext cx="3181350" cy="369332"/>
          </a:xfrm>
          <a:prstGeom prst="rect">
            <a:avLst/>
          </a:prstGeom>
          <a:noFill/>
        </p:spPr>
        <p:txBody>
          <a:bodyPr wrap="square" rtlCol="0">
            <a:spAutoFit/>
          </a:bodyPr>
          <a:lstStyle/>
          <a:p>
            <a:r>
              <a:rPr lang="en-US"/>
              <a:t>Operating condition</a:t>
            </a:r>
          </a:p>
        </p:txBody>
      </p:sp>
      <p:pic>
        <p:nvPicPr>
          <p:cNvPr id="45" name="Picture 44">
            <a:extLst>
              <a:ext uri="{FF2B5EF4-FFF2-40B4-BE49-F238E27FC236}">
                <a16:creationId xmlns:a16="http://schemas.microsoft.com/office/drawing/2014/main" id="{EE18D548-B07E-5D1C-D4D5-5F751C2D3694}"/>
              </a:ext>
            </a:extLst>
          </p:cNvPr>
          <p:cNvPicPr>
            <a:picLocks noChangeAspect="1"/>
          </p:cNvPicPr>
          <p:nvPr/>
        </p:nvPicPr>
        <p:blipFill>
          <a:blip r:embed="rId3"/>
          <a:stretch>
            <a:fillRect/>
          </a:stretch>
        </p:blipFill>
        <p:spPr>
          <a:xfrm>
            <a:off x="13148000" y="-3021675"/>
            <a:ext cx="3816151" cy="12438203"/>
          </a:xfrm>
          <a:prstGeom prst="rect">
            <a:avLst/>
          </a:prstGeom>
        </p:spPr>
      </p:pic>
      <p:pic>
        <p:nvPicPr>
          <p:cNvPr id="3" name="Picture 2">
            <a:extLst>
              <a:ext uri="{FF2B5EF4-FFF2-40B4-BE49-F238E27FC236}">
                <a16:creationId xmlns:a16="http://schemas.microsoft.com/office/drawing/2014/main" id="{8869F630-41D0-767F-450D-C8186EFC9D44}"/>
              </a:ext>
            </a:extLst>
          </p:cNvPr>
          <p:cNvPicPr>
            <a:picLocks noChangeAspect="1"/>
          </p:cNvPicPr>
          <p:nvPr/>
        </p:nvPicPr>
        <p:blipFill>
          <a:blip r:embed="rId4"/>
          <a:stretch>
            <a:fillRect/>
          </a:stretch>
        </p:blipFill>
        <p:spPr>
          <a:xfrm>
            <a:off x="712121" y="3525827"/>
            <a:ext cx="3400009" cy="2737491"/>
          </a:xfrm>
          <a:prstGeom prst="rect">
            <a:avLst/>
          </a:prstGeom>
        </p:spPr>
      </p:pic>
      <p:pic>
        <p:nvPicPr>
          <p:cNvPr id="7" name="Picture 6">
            <a:extLst>
              <a:ext uri="{FF2B5EF4-FFF2-40B4-BE49-F238E27FC236}">
                <a16:creationId xmlns:a16="http://schemas.microsoft.com/office/drawing/2014/main" id="{59CFB789-D74F-A2E4-210A-6A097401A2C9}"/>
              </a:ext>
            </a:extLst>
          </p:cNvPr>
          <p:cNvPicPr>
            <a:picLocks noChangeAspect="1"/>
          </p:cNvPicPr>
          <p:nvPr/>
        </p:nvPicPr>
        <p:blipFill>
          <a:blip r:embed="rId5"/>
          <a:srcRect b="1092"/>
          <a:stretch>
            <a:fillRect/>
          </a:stretch>
        </p:blipFill>
        <p:spPr>
          <a:xfrm>
            <a:off x="4367334" y="309693"/>
            <a:ext cx="3695311" cy="2928807"/>
          </a:xfrm>
          <a:prstGeom prst="rect">
            <a:avLst/>
          </a:prstGeom>
        </p:spPr>
      </p:pic>
      <p:pic>
        <p:nvPicPr>
          <p:cNvPr id="11" name="Picture 10">
            <a:extLst>
              <a:ext uri="{FF2B5EF4-FFF2-40B4-BE49-F238E27FC236}">
                <a16:creationId xmlns:a16="http://schemas.microsoft.com/office/drawing/2014/main" id="{63B512CA-BFAC-E830-6B4C-C3118809D59C}"/>
              </a:ext>
            </a:extLst>
          </p:cNvPr>
          <p:cNvPicPr>
            <a:picLocks noChangeAspect="1"/>
          </p:cNvPicPr>
          <p:nvPr/>
        </p:nvPicPr>
        <p:blipFill>
          <a:blip r:embed="rId6"/>
          <a:stretch>
            <a:fillRect/>
          </a:stretch>
        </p:blipFill>
        <p:spPr>
          <a:xfrm>
            <a:off x="4447944" y="3380083"/>
            <a:ext cx="3631928" cy="2866044"/>
          </a:xfrm>
          <a:prstGeom prst="rect">
            <a:avLst/>
          </a:prstGeom>
        </p:spPr>
      </p:pic>
      <p:pic>
        <p:nvPicPr>
          <p:cNvPr id="13" name="Picture 12">
            <a:extLst>
              <a:ext uri="{FF2B5EF4-FFF2-40B4-BE49-F238E27FC236}">
                <a16:creationId xmlns:a16="http://schemas.microsoft.com/office/drawing/2014/main" id="{1211586A-954D-7143-0606-FD8EA5ADA2A8}"/>
              </a:ext>
            </a:extLst>
          </p:cNvPr>
          <p:cNvPicPr>
            <a:picLocks noChangeAspect="1"/>
          </p:cNvPicPr>
          <p:nvPr/>
        </p:nvPicPr>
        <p:blipFill>
          <a:blip r:embed="rId7"/>
          <a:stretch>
            <a:fillRect/>
          </a:stretch>
        </p:blipFill>
        <p:spPr>
          <a:xfrm>
            <a:off x="8415686" y="3273831"/>
            <a:ext cx="3635451" cy="2866043"/>
          </a:xfrm>
          <a:prstGeom prst="rect">
            <a:avLst/>
          </a:prstGeom>
        </p:spPr>
      </p:pic>
      <p:pic>
        <p:nvPicPr>
          <p:cNvPr id="15" name="Picture 14">
            <a:extLst>
              <a:ext uri="{FF2B5EF4-FFF2-40B4-BE49-F238E27FC236}">
                <a16:creationId xmlns:a16="http://schemas.microsoft.com/office/drawing/2014/main" id="{7DA7FAAA-5820-C27F-5B41-F8177ADEAA24}"/>
              </a:ext>
            </a:extLst>
          </p:cNvPr>
          <p:cNvPicPr>
            <a:picLocks noChangeAspect="1"/>
          </p:cNvPicPr>
          <p:nvPr/>
        </p:nvPicPr>
        <p:blipFill>
          <a:blip r:embed="rId8"/>
          <a:stretch>
            <a:fillRect/>
          </a:stretch>
        </p:blipFill>
        <p:spPr>
          <a:xfrm>
            <a:off x="8452993" y="309693"/>
            <a:ext cx="3635451" cy="2887734"/>
          </a:xfrm>
          <a:prstGeom prst="rect">
            <a:avLst/>
          </a:prstGeom>
        </p:spPr>
      </p:pic>
    </p:spTree>
    <p:extLst>
      <p:ext uri="{BB962C8B-B14F-4D97-AF65-F5344CB8AC3E}">
        <p14:creationId xmlns:p14="http://schemas.microsoft.com/office/powerpoint/2010/main" val="1947486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6B3A-3B82-D919-0E6B-BD3F41DFE7FA}"/>
              </a:ext>
            </a:extLst>
          </p:cNvPr>
          <p:cNvSpPr>
            <a:spLocks noGrp="1"/>
          </p:cNvSpPr>
          <p:nvPr>
            <p:ph type="title"/>
          </p:nvPr>
        </p:nvSpPr>
        <p:spPr>
          <a:xfrm>
            <a:off x="787400" y="0"/>
            <a:ext cx="10515600" cy="1325563"/>
          </a:xfrm>
        </p:spPr>
        <p:txBody>
          <a:bodyPr/>
          <a:lstStyle/>
          <a:p>
            <a:r>
              <a:rPr lang="en-US"/>
              <a:t>Tire Temps </a:t>
            </a:r>
          </a:p>
        </p:txBody>
      </p:sp>
      <p:pic>
        <p:nvPicPr>
          <p:cNvPr id="4" name="Picture 3">
            <a:extLst>
              <a:ext uri="{FF2B5EF4-FFF2-40B4-BE49-F238E27FC236}">
                <a16:creationId xmlns:a16="http://schemas.microsoft.com/office/drawing/2014/main" id="{0FA5D363-4F9C-0941-FD69-B580E9380399}"/>
              </a:ext>
            </a:extLst>
          </p:cNvPr>
          <p:cNvPicPr>
            <a:picLocks noChangeAspect="1"/>
          </p:cNvPicPr>
          <p:nvPr/>
        </p:nvPicPr>
        <p:blipFill>
          <a:blip r:embed="rId2"/>
          <a:stretch>
            <a:fillRect/>
          </a:stretch>
        </p:blipFill>
        <p:spPr>
          <a:xfrm>
            <a:off x="4978248" y="3636239"/>
            <a:ext cx="3635451" cy="2866043"/>
          </a:xfrm>
          <a:prstGeom prst="rect">
            <a:avLst/>
          </a:prstGeom>
        </p:spPr>
      </p:pic>
      <p:pic>
        <p:nvPicPr>
          <p:cNvPr id="5" name="Picture 4">
            <a:extLst>
              <a:ext uri="{FF2B5EF4-FFF2-40B4-BE49-F238E27FC236}">
                <a16:creationId xmlns:a16="http://schemas.microsoft.com/office/drawing/2014/main" id="{024EE27E-3B01-372A-62DF-A7B6EC99A8F2}"/>
              </a:ext>
            </a:extLst>
          </p:cNvPr>
          <p:cNvPicPr>
            <a:picLocks noChangeAspect="1"/>
          </p:cNvPicPr>
          <p:nvPr/>
        </p:nvPicPr>
        <p:blipFill>
          <a:blip r:embed="rId3"/>
          <a:stretch>
            <a:fillRect/>
          </a:stretch>
        </p:blipFill>
        <p:spPr>
          <a:xfrm>
            <a:off x="4978248" y="557772"/>
            <a:ext cx="3635451" cy="2887734"/>
          </a:xfrm>
          <a:prstGeom prst="rect">
            <a:avLst/>
          </a:prstGeom>
        </p:spPr>
      </p:pic>
      <p:graphicFrame>
        <p:nvGraphicFramePr>
          <p:cNvPr id="9" name="Table 8">
            <a:extLst>
              <a:ext uri="{FF2B5EF4-FFF2-40B4-BE49-F238E27FC236}">
                <a16:creationId xmlns:a16="http://schemas.microsoft.com/office/drawing/2014/main" id="{1C5D92D4-7013-FFE2-9A96-725EC9682205}"/>
              </a:ext>
            </a:extLst>
          </p:cNvPr>
          <p:cNvGraphicFramePr>
            <a:graphicFrameLocks noGrp="1"/>
          </p:cNvGraphicFramePr>
          <p:nvPr>
            <p:extLst>
              <p:ext uri="{D42A27DB-BD31-4B8C-83A1-F6EECF244321}">
                <p14:modId xmlns:p14="http://schemas.microsoft.com/office/powerpoint/2010/main" val="3039515033"/>
              </p:ext>
            </p:extLst>
          </p:nvPr>
        </p:nvGraphicFramePr>
        <p:xfrm>
          <a:off x="322893" y="1025805"/>
          <a:ext cx="4533900" cy="289560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253440266"/>
                    </a:ext>
                  </a:extLst>
                </a:gridCol>
                <a:gridCol w="647700">
                  <a:extLst>
                    <a:ext uri="{9D8B030D-6E8A-4147-A177-3AD203B41FA5}">
                      <a16:colId xmlns:a16="http://schemas.microsoft.com/office/drawing/2014/main" val="2374683361"/>
                    </a:ext>
                  </a:extLst>
                </a:gridCol>
                <a:gridCol w="647700">
                  <a:extLst>
                    <a:ext uri="{9D8B030D-6E8A-4147-A177-3AD203B41FA5}">
                      <a16:colId xmlns:a16="http://schemas.microsoft.com/office/drawing/2014/main" val="79857272"/>
                    </a:ext>
                  </a:extLst>
                </a:gridCol>
                <a:gridCol w="647700">
                  <a:extLst>
                    <a:ext uri="{9D8B030D-6E8A-4147-A177-3AD203B41FA5}">
                      <a16:colId xmlns:a16="http://schemas.microsoft.com/office/drawing/2014/main" val="1456617758"/>
                    </a:ext>
                  </a:extLst>
                </a:gridCol>
                <a:gridCol w="647700">
                  <a:extLst>
                    <a:ext uri="{9D8B030D-6E8A-4147-A177-3AD203B41FA5}">
                      <a16:colId xmlns:a16="http://schemas.microsoft.com/office/drawing/2014/main" val="9642304"/>
                    </a:ext>
                  </a:extLst>
                </a:gridCol>
                <a:gridCol w="647700">
                  <a:extLst>
                    <a:ext uri="{9D8B030D-6E8A-4147-A177-3AD203B41FA5}">
                      <a16:colId xmlns:a16="http://schemas.microsoft.com/office/drawing/2014/main" val="2651037354"/>
                    </a:ext>
                  </a:extLst>
                </a:gridCol>
                <a:gridCol w="647700">
                  <a:extLst>
                    <a:ext uri="{9D8B030D-6E8A-4147-A177-3AD203B41FA5}">
                      <a16:colId xmlns:a16="http://schemas.microsoft.com/office/drawing/2014/main" val="2350458152"/>
                    </a:ext>
                  </a:extLst>
                </a:gridCol>
              </a:tblGrid>
              <a:tr h="180975">
                <a:tc gridSpan="7">
                  <a:txBody>
                    <a:bodyPr/>
                    <a:lstStyle/>
                    <a:p>
                      <a:pPr algn="ctr" fontAlgn="b">
                        <a:buNone/>
                      </a:pPr>
                      <a:r>
                        <a:rPr lang="en-US" sz="1100" u="none" strike="noStrike" dirty="0" err="1">
                          <a:effectLst/>
                        </a:rPr>
                        <a:t>skidpad</a:t>
                      </a:r>
                      <a:r>
                        <a:rPr lang="en-US" sz="1100" u="none" strike="noStrike" dirty="0">
                          <a:effectLst/>
                        </a:rPr>
                        <a:t> 4-18-26, left side (</a:t>
                      </a:r>
                      <a:r>
                        <a:rPr lang="en-US" sz="1100" u="none" strike="noStrike" dirty="0" err="1">
                          <a:effectLst/>
                        </a:rPr>
                        <a:t>skidpad</a:t>
                      </a:r>
                      <a:r>
                        <a:rPr lang="en-US" sz="1100" u="none" strike="noStrike" dirty="0">
                          <a:effectLst/>
                        </a:rPr>
                        <a:t> is symmetric track)</a:t>
                      </a:r>
                      <a:endParaRPr lang="en-US" sz="1100" b="0" i="0" u="none" strike="noStrike" dirty="0">
                        <a:solidFill>
                          <a:srgbClr val="000000"/>
                        </a:solidFill>
                        <a:effectLst/>
                        <a:latin typeface="Aptos Narrow" panose="020B0004020202020204" pitchFamily="34" charset="0"/>
                      </a:endParaRPr>
                    </a:p>
                  </a:txBody>
                  <a:tcPr marL="4763" marR="4763" marT="47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3176660"/>
                  </a:ext>
                </a:extLst>
              </a:tr>
              <a:tr h="180975">
                <a:tc>
                  <a:txBody>
                    <a:bodyPr/>
                    <a:lstStyle/>
                    <a:p>
                      <a:pPr algn="l" fontAlgn="b">
                        <a:buNone/>
                      </a:pPr>
                      <a:r>
                        <a:rPr lang="en-US" sz="1100" u="none" strike="noStrike">
                          <a:effectLst/>
                        </a:rPr>
                        <a:t>FI</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dirty="0">
                          <a:effectLst/>
                        </a:rPr>
                        <a:t>FM</a:t>
                      </a:r>
                      <a:endParaRPr lang="en-US" sz="1100" b="0" i="0" u="none" strike="noStrike" dirty="0">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FO</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RI</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RM</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RO</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11117268"/>
                  </a:ext>
                </a:extLst>
              </a:tr>
              <a:tr h="180975">
                <a:tc gridSpan="7">
                  <a:txBody>
                    <a:bodyPr/>
                    <a:lstStyle/>
                    <a:p>
                      <a:pPr algn="ctr" fontAlgn="b">
                        <a:buNone/>
                      </a:pPr>
                      <a:r>
                        <a:rPr lang="en-US" sz="1100" u="none" strike="noStrike">
                          <a:effectLst/>
                        </a:rPr>
                        <a:t>Cold rest</a:t>
                      </a:r>
                      <a:endParaRPr lang="en-US" sz="1100" b="0" i="0" u="none" strike="noStrike">
                        <a:solidFill>
                          <a:srgbClr val="000000"/>
                        </a:solidFill>
                        <a:effectLst/>
                        <a:latin typeface="Aptos Narrow" panose="020B0004020202020204" pitchFamily="34" charset="0"/>
                      </a:endParaRPr>
                    </a:p>
                  </a:txBody>
                  <a:tcPr marL="4763" marR="4763" marT="47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21703961"/>
                  </a:ext>
                </a:extLst>
              </a:tr>
              <a:tr h="180975">
                <a:tc>
                  <a:txBody>
                    <a:bodyPr/>
                    <a:lstStyle/>
                    <a:p>
                      <a:pPr algn="r" fontAlgn="b">
                        <a:buNone/>
                      </a:pPr>
                      <a:r>
                        <a:rPr lang="en-US" sz="1100" u="none" strike="noStrike">
                          <a:effectLst/>
                        </a:rPr>
                        <a:t>39.5</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dirty="0">
                          <a:effectLst/>
                        </a:rPr>
                        <a:t>41.4</a:t>
                      </a:r>
                      <a:endParaRPr lang="en-US" sz="1100" b="0" i="0" u="none" strike="noStrike" dirty="0">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39.6</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43.9</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41.5</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335591423"/>
                  </a:ext>
                </a:extLst>
              </a:tr>
              <a:tr h="180975">
                <a:tc>
                  <a:txBody>
                    <a:bodyPr/>
                    <a:lstStyle/>
                    <a:p>
                      <a:pPr algn="r" fontAlgn="b">
                        <a:buNone/>
                      </a:pPr>
                      <a:r>
                        <a:rPr lang="en-US" sz="1100" u="none" strike="noStrike">
                          <a:effectLst/>
                        </a:rPr>
                        <a:t>41.5</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42.7</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41.9</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42.3</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45.3</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43.2</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946679375"/>
                  </a:ext>
                </a:extLst>
              </a:tr>
              <a:tr h="180975">
                <a:tc>
                  <a:txBody>
                    <a:bodyPr/>
                    <a:lstStyle/>
                    <a:p>
                      <a:pPr algn="r" fontAlgn="b">
                        <a:buNone/>
                      </a:pPr>
                      <a:r>
                        <a:rPr lang="en-US" sz="1100" u="none" strike="noStrike">
                          <a:effectLst/>
                        </a:rPr>
                        <a:t>41.4</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42</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41.7</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45.4</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43.3</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959019475"/>
                  </a:ext>
                </a:extLst>
              </a:tr>
              <a:tr h="180975">
                <a:tc>
                  <a:txBody>
                    <a:bodyPr/>
                    <a:lstStyle/>
                    <a:p>
                      <a:pPr algn="r" fontAlgn="b">
                        <a:buNone/>
                      </a:pPr>
                      <a:r>
                        <a:rPr lang="en-US" sz="1100" u="none" strike="noStrike">
                          <a:effectLst/>
                        </a:rPr>
                        <a:t>41.3</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43.3</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42.8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44.8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45.9</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42.6</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785660182"/>
                  </a:ext>
                </a:extLst>
              </a:tr>
              <a:tr h="180975">
                <a:tc>
                  <a:txBody>
                    <a:bodyPr/>
                    <a:lstStyle/>
                    <a:p>
                      <a:pPr algn="r" fontAlgn="b">
                        <a:buNone/>
                      </a:pPr>
                      <a:r>
                        <a:rPr lang="en-US" sz="1100" u="none" strike="noStrike">
                          <a:effectLst/>
                        </a:rPr>
                        <a:t>42.6</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42.8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46</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47</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45</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645838957"/>
                  </a:ext>
                </a:extLst>
              </a:tr>
              <a:tr h="180975">
                <a:tc>
                  <a:txBody>
                    <a:bodyPr/>
                    <a:lstStyle/>
                    <a:p>
                      <a:pPr algn="r" fontAlgn="b">
                        <a:buNone/>
                      </a:pPr>
                      <a:r>
                        <a:rPr lang="en-US" sz="1100" u="none" strike="noStrike">
                          <a:effectLst/>
                        </a:rPr>
                        <a:t>43.2</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44.5</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43.4</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46.9</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47.8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45.8</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1598918814"/>
                  </a:ext>
                </a:extLst>
              </a:tr>
              <a:tr h="180975">
                <a:tc gridSpan="7">
                  <a:txBody>
                    <a:bodyPr/>
                    <a:lstStyle/>
                    <a:p>
                      <a:pPr algn="ctr" fontAlgn="b">
                        <a:buNone/>
                      </a:pPr>
                      <a:r>
                        <a:rPr lang="en-US" sz="1100" u="none" strike="noStrike">
                          <a:effectLst/>
                        </a:rPr>
                        <a:t>Cold</a:t>
                      </a:r>
                      <a:endParaRPr lang="en-US" sz="1100" b="0" i="0" u="none" strike="noStrike">
                        <a:solidFill>
                          <a:srgbClr val="000000"/>
                        </a:solidFill>
                        <a:effectLst/>
                        <a:latin typeface="Aptos Narrow" panose="020B0004020202020204" pitchFamily="34" charset="0"/>
                      </a:endParaRPr>
                    </a:p>
                  </a:txBody>
                  <a:tcPr marL="4763" marR="4763" marT="47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0735408"/>
                  </a:ext>
                </a:extLst>
              </a:tr>
              <a:tr h="180975">
                <a:tc>
                  <a:txBody>
                    <a:bodyPr/>
                    <a:lstStyle/>
                    <a:p>
                      <a:pPr algn="r" fontAlgn="b">
                        <a:buNone/>
                      </a:pPr>
                      <a:r>
                        <a:rPr lang="en-US" sz="1100" u="none" strike="noStrike">
                          <a:effectLst/>
                        </a:rPr>
                        <a:t>37.3</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42.2</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41.9</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41.1</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1647926281"/>
                  </a:ext>
                </a:extLst>
              </a:tr>
              <a:tr h="180975">
                <a:tc>
                  <a:txBody>
                    <a:bodyPr/>
                    <a:lstStyle/>
                    <a:p>
                      <a:pPr algn="r" fontAlgn="b">
                        <a:buNone/>
                      </a:pPr>
                      <a:r>
                        <a:rPr lang="en-US" sz="1100" u="none" strike="noStrike">
                          <a:effectLst/>
                        </a:rPr>
                        <a:t>42.6</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43.8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41.9</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45</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46</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44.2</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1376961919"/>
                  </a:ext>
                </a:extLst>
              </a:tr>
              <a:tr h="180975">
                <a:tc gridSpan="7">
                  <a:txBody>
                    <a:bodyPr/>
                    <a:lstStyle/>
                    <a:p>
                      <a:pPr algn="ctr" fontAlgn="b">
                        <a:buNone/>
                      </a:pPr>
                      <a:r>
                        <a:rPr lang="en-US" sz="1100" u="none" strike="noStrike">
                          <a:effectLst/>
                        </a:rPr>
                        <a:t>Cold</a:t>
                      </a:r>
                      <a:endParaRPr lang="en-US" sz="1100" b="0" i="0" u="none" strike="noStrike">
                        <a:solidFill>
                          <a:srgbClr val="000000"/>
                        </a:solidFill>
                        <a:effectLst/>
                        <a:latin typeface="Aptos Narrow" panose="020B0004020202020204" pitchFamily="34" charset="0"/>
                      </a:endParaRPr>
                    </a:p>
                  </a:txBody>
                  <a:tcPr marL="4763" marR="4763" marT="47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56832301"/>
                  </a:ext>
                </a:extLst>
              </a:tr>
              <a:tr h="180975">
                <a:tc>
                  <a:txBody>
                    <a:bodyPr/>
                    <a:lstStyle/>
                    <a:p>
                      <a:pPr algn="r" fontAlgn="b">
                        <a:buNone/>
                      </a:pPr>
                      <a:r>
                        <a:rPr lang="en-US" sz="1100" u="none" strike="noStrike">
                          <a:effectLst/>
                        </a:rPr>
                        <a:t>36.4</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40.6</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40.3</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41.1</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41.1</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39.1</a:t>
                      </a:r>
                      <a:endParaRPr lang="en-US" sz="1100" b="0"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490337945"/>
                  </a:ext>
                </a:extLst>
              </a:tr>
              <a:tr h="180975">
                <a:tc gridSpan="7">
                  <a:txBody>
                    <a:bodyPr/>
                    <a:lstStyle/>
                    <a:p>
                      <a:pPr algn="ctr" fontAlgn="b">
                        <a:buNone/>
                      </a:pPr>
                      <a:r>
                        <a:rPr lang="en-US" sz="1100" u="none" strike="noStrike">
                          <a:effectLst/>
                        </a:rPr>
                        <a:t>Cold</a:t>
                      </a:r>
                      <a:endParaRPr lang="en-US" sz="1100" b="0" i="0" u="none" strike="noStrike">
                        <a:solidFill>
                          <a:srgbClr val="000000"/>
                        </a:solidFill>
                        <a:effectLst/>
                        <a:latin typeface="Aptos Narrow" panose="020B0004020202020204" pitchFamily="34" charset="0"/>
                      </a:endParaRPr>
                    </a:p>
                  </a:txBody>
                  <a:tcPr marL="4763" marR="4763" marT="47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3134122"/>
                  </a:ext>
                </a:extLst>
              </a:tr>
              <a:tr h="180975">
                <a:tc>
                  <a:txBody>
                    <a:bodyPr/>
                    <a:lstStyle/>
                    <a:p>
                      <a:pPr algn="r" fontAlgn="b">
                        <a:buNone/>
                      </a:pPr>
                      <a:r>
                        <a:rPr lang="en-US" sz="1100" u="none" strike="noStrike">
                          <a:effectLst/>
                        </a:rPr>
                        <a:t>37.4</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38.8</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37.9</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39</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a:effectLst/>
                        </a:rPr>
                        <a:t>39.6</a:t>
                      </a:r>
                      <a:endParaRPr lang="en-US" sz="1100" b="0"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US" sz="1100" u="none" strike="noStrike" dirty="0">
                          <a:effectLst/>
                        </a:rPr>
                        <a:t>38.1</a:t>
                      </a:r>
                      <a:endParaRPr lang="en-US" sz="1100" b="0" i="0" u="none" strike="noStrike" dirty="0">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4055727492"/>
                  </a:ext>
                </a:extLst>
              </a:tr>
            </a:tbl>
          </a:graphicData>
        </a:graphic>
      </p:graphicFrame>
      <p:pic>
        <p:nvPicPr>
          <p:cNvPr id="13" name="Picture 12">
            <a:extLst>
              <a:ext uri="{FF2B5EF4-FFF2-40B4-BE49-F238E27FC236}">
                <a16:creationId xmlns:a16="http://schemas.microsoft.com/office/drawing/2014/main" id="{58C0ED73-E083-AF41-58D6-ED955419A57D}"/>
              </a:ext>
            </a:extLst>
          </p:cNvPr>
          <p:cNvPicPr>
            <a:picLocks noChangeAspect="1"/>
          </p:cNvPicPr>
          <p:nvPr/>
        </p:nvPicPr>
        <p:blipFill>
          <a:blip r:embed="rId4"/>
          <a:srcRect t="1749" r="1571"/>
          <a:stretch>
            <a:fillRect/>
          </a:stretch>
        </p:blipFill>
        <p:spPr>
          <a:xfrm>
            <a:off x="8613698" y="2085291"/>
            <a:ext cx="3578302" cy="2720430"/>
          </a:xfrm>
          <a:prstGeom prst="rect">
            <a:avLst/>
          </a:prstGeom>
        </p:spPr>
      </p:pic>
      <p:pic>
        <p:nvPicPr>
          <p:cNvPr id="3" name="Picture 2" descr="A green and white graph&#10;&#10;Description automatically generated">
            <a:extLst>
              <a:ext uri="{FF2B5EF4-FFF2-40B4-BE49-F238E27FC236}">
                <a16:creationId xmlns:a16="http://schemas.microsoft.com/office/drawing/2014/main" id="{A176794C-633F-8AB9-C2B9-C7B2F207F3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2267" y="4291733"/>
            <a:ext cx="3413111" cy="2052012"/>
          </a:xfrm>
          <a:prstGeom prst="rect">
            <a:avLst/>
          </a:prstGeom>
        </p:spPr>
      </p:pic>
    </p:spTree>
    <p:extLst>
      <p:ext uri="{BB962C8B-B14F-4D97-AF65-F5344CB8AC3E}">
        <p14:creationId xmlns:p14="http://schemas.microsoft.com/office/powerpoint/2010/main" val="278100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F0C5A-3564-7288-883D-64E2651CCBA7}"/>
              </a:ext>
            </a:extLst>
          </p:cNvPr>
          <p:cNvSpPr>
            <a:spLocks noGrp="1"/>
          </p:cNvSpPr>
          <p:nvPr>
            <p:ph type="title"/>
          </p:nvPr>
        </p:nvSpPr>
        <p:spPr>
          <a:xfrm>
            <a:off x="484496" y="365125"/>
            <a:ext cx="10869304" cy="1325563"/>
          </a:xfrm>
        </p:spPr>
        <p:txBody>
          <a:bodyPr>
            <a:noAutofit/>
          </a:bodyPr>
          <a:lstStyle/>
          <a:p>
            <a:r>
              <a:rPr lang="en-US" sz="3200" dirty="0"/>
              <a:t>Optimum K Camber </a:t>
            </a:r>
            <a:br>
              <a:rPr lang="en-US" sz="3200" dirty="0"/>
            </a:br>
            <a:r>
              <a:rPr lang="en-US" sz="3200" dirty="0"/>
              <a:t>Changes in Roll -2 to 2</a:t>
            </a:r>
            <a:br>
              <a:rPr lang="en-US" sz="3200" dirty="0"/>
            </a:br>
            <a:r>
              <a:rPr lang="en-US" sz="3200" dirty="0"/>
              <a:t>2025 car</a:t>
            </a:r>
          </a:p>
        </p:txBody>
      </p:sp>
      <p:sp>
        <p:nvSpPr>
          <p:cNvPr id="3" name="Content Placeholder 2">
            <a:extLst>
              <a:ext uri="{FF2B5EF4-FFF2-40B4-BE49-F238E27FC236}">
                <a16:creationId xmlns:a16="http://schemas.microsoft.com/office/drawing/2014/main" id="{629D0C08-05D6-AB81-ED85-84C2C9BEE2F1}"/>
              </a:ext>
            </a:extLst>
          </p:cNvPr>
          <p:cNvSpPr>
            <a:spLocks noGrp="1"/>
          </p:cNvSpPr>
          <p:nvPr>
            <p:ph idx="1"/>
          </p:nvPr>
        </p:nvSpPr>
        <p:spPr/>
        <p:txBody>
          <a:bodyPr/>
          <a:lstStyle/>
          <a:p>
            <a:endParaRPr lang="en-US" dirty="0"/>
          </a:p>
          <a:p>
            <a:endParaRPr lang="en-US" dirty="0"/>
          </a:p>
          <a:p>
            <a:pPr marL="0" indent="0">
              <a:buNone/>
            </a:pPr>
            <a:r>
              <a:rPr lang="en-US" dirty="0"/>
              <a:t>Front</a:t>
            </a:r>
          </a:p>
          <a:p>
            <a:endParaRPr lang="en-US" dirty="0"/>
          </a:p>
          <a:p>
            <a:endParaRPr lang="en-US" dirty="0"/>
          </a:p>
          <a:p>
            <a:endParaRPr lang="en-US" dirty="0"/>
          </a:p>
          <a:p>
            <a:endParaRPr lang="en-US" dirty="0"/>
          </a:p>
          <a:p>
            <a:pPr marL="0" indent="0">
              <a:buNone/>
            </a:pPr>
            <a:r>
              <a:rPr lang="en-US" dirty="0"/>
              <a:t>Rear</a:t>
            </a:r>
          </a:p>
        </p:txBody>
      </p:sp>
      <p:pic>
        <p:nvPicPr>
          <p:cNvPr id="5" name="Picture 4">
            <a:extLst>
              <a:ext uri="{FF2B5EF4-FFF2-40B4-BE49-F238E27FC236}">
                <a16:creationId xmlns:a16="http://schemas.microsoft.com/office/drawing/2014/main" id="{C050CFA7-EFBE-0017-41CC-95787BD55160}"/>
              </a:ext>
            </a:extLst>
          </p:cNvPr>
          <p:cNvPicPr>
            <a:picLocks noChangeAspect="1"/>
          </p:cNvPicPr>
          <p:nvPr/>
        </p:nvPicPr>
        <p:blipFill>
          <a:blip r:embed="rId2"/>
          <a:stretch>
            <a:fillRect/>
          </a:stretch>
        </p:blipFill>
        <p:spPr>
          <a:xfrm>
            <a:off x="6328710" y="0"/>
            <a:ext cx="5863290" cy="6858000"/>
          </a:xfrm>
          <a:prstGeom prst="rect">
            <a:avLst/>
          </a:prstGeom>
        </p:spPr>
      </p:pic>
      <p:pic>
        <p:nvPicPr>
          <p:cNvPr id="6" name="Picture 5" descr="A graph of a line&#10;&#10;AI-generated content may be incorrect.">
            <a:extLst>
              <a:ext uri="{FF2B5EF4-FFF2-40B4-BE49-F238E27FC236}">
                <a16:creationId xmlns:a16="http://schemas.microsoft.com/office/drawing/2014/main" id="{A2B70536-B2A2-5861-2325-BEBE45A56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8816" y="1825625"/>
            <a:ext cx="3216354" cy="2412266"/>
          </a:xfrm>
          <a:prstGeom prst="rect">
            <a:avLst/>
          </a:prstGeom>
        </p:spPr>
      </p:pic>
      <p:pic>
        <p:nvPicPr>
          <p:cNvPr id="8" name="Picture 7">
            <a:extLst>
              <a:ext uri="{FF2B5EF4-FFF2-40B4-BE49-F238E27FC236}">
                <a16:creationId xmlns:a16="http://schemas.microsoft.com/office/drawing/2014/main" id="{8B4F6A67-97DF-4E49-9731-FA600F0DE2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138816" y="4237891"/>
            <a:ext cx="3216354" cy="2412265"/>
          </a:xfrm>
          <a:prstGeom prst="rect">
            <a:avLst/>
          </a:prstGeom>
        </p:spPr>
      </p:pic>
    </p:spTree>
    <p:extLst>
      <p:ext uri="{BB962C8B-B14F-4D97-AF65-F5344CB8AC3E}">
        <p14:creationId xmlns:p14="http://schemas.microsoft.com/office/powerpoint/2010/main" val="267218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4A19F862AC26458C934780B3E0363A" ma:contentTypeVersion="19" ma:contentTypeDescription="Create a new document." ma:contentTypeScope="" ma:versionID="b8a5141133924f828c2515f8e69c95ff">
  <xsd:schema xmlns:xsd="http://www.w3.org/2001/XMLSchema" xmlns:xs="http://www.w3.org/2001/XMLSchema" xmlns:p="http://schemas.microsoft.com/office/2006/metadata/properties" xmlns:ns2="bf66edc5-d313-41b0-b4b5-75f863c686e2" xmlns:ns3="2a5745d0-deca-4fbc-bc21-bb37e43fad67" targetNamespace="http://schemas.microsoft.com/office/2006/metadata/properties" ma:root="true" ma:fieldsID="e97137ad418eeced0d952891fcc5c8ff" ns2:_="" ns3:_="">
    <xsd:import namespace="bf66edc5-d313-41b0-b4b5-75f863c686e2"/>
    <xsd:import namespace="2a5745d0-deca-4fbc-bc21-bb37e43fad6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66edc5-d313-41b0-b4b5-75f863c686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2011f1f-c1f6-43e5-98b2-4e6fd79a0b5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a5745d0-deca-4fbc-bc21-bb37e43fad6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571e88-2330-4219-8532-055d1f518380}" ma:internalName="TaxCatchAll" ma:showField="CatchAllData" ma:web="2a5745d0-deca-4fbc-bc21-bb37e43fad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a5745d0-deca-4fbc-bc21-bb37e43fad67" xsi:nil="true"/>
    <lcf76f155ced4ddcb4097134ff3c332f xmlns="bf66edc5-d313-41b0-b4b5-75f863c686e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EC25EBD-C869-4A46-9713-8C5DDF3019E8}">
  <ds:schemaRefs>
    <ds:schemaRef ds:uri="2a5745d0-deca-4fbc-bc21-bb37e43fad67"/>
    <ds:schemaRef ds:uri="bf66edc5-d313-41b0-b4b5-75f863c686e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02D74E5-8C9E-4846-A8CF-25F4D5C094EB}">
  <ds:schemaRefs>
    <ds:schemaRef ds:uri="http://schemas.microsoft.com/sharepoint/v3/contenttype/forms"/>
  </ds:schemaRefs>
</ds:datastoreItem>
</file>

<file path=customXml/itemProps3.xml><?xml version="1.0" encoding="utf-8"?>
<ds:datastoreItem xmlns:ds="http://schemas.openxmlformats.org/officeDocument/2006/customXml" ds:itemID="{133AA60C-AD73-4CD0-AE55-1914BEADD6AD}">
  <ds:schemaRefs>
    <ds:schemaRef ds:uri="2a5745d0-deca-4fbc-bc21-bb37e43fad67"/>
    <ds:schemaRef ds:uri="bf66edc5-d313-41b0-b4b5-75f863c686e2"/>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4023</Words>
  <Application>Microsoft Office PowerPoint</Application>
  <PresentationFormat>Widescreen</PresentationFormat>
  <Paragraphs>321</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Aptos Narrow</vt:lpstr>
      <vt:lpstr>Arial</vt:lpstr>
      <vt:lpstr>Calibri</vt:lpstr>
      <vt:lpstr>Cambria Math</vt:lpstr>
      <vt:lpstr>Office Theme</vt:lpstr>
      <vt:lpstr>PowerPoint Presentation</vt:lpstr>
      <vt:lpstr>PowerPoint Presentation</vt:lpstr>
      <vt:lpstr>PowerPoint Presentation</vt:lpstr>
      <vt:lpstr>PowerPoint Presentation</vt:lpstr>
      <vt:lpstr>Vehicle Dynamics Design Overview</vt:lpstr>
      <vt:lpstr>Vehicle Dynamics Setup</vt:lpstr>
      <vt:lpstr>Vehicle Dynamics Tires</vt:lpstr>
      <vt:lpstr>Vehicle Dynamics Ride and Roll Rates</vt:lpstr>
      <vt:lpstr>Vehicle Dynamics Kinematics</vt:lpstr>
      <vt:lpstr>PowerPoint Presentation</vt:lpstr>
      <vt:lpstr>Vehicle Dynamics Adjustability, Data, and Simulation</vt:lpstr>
      <vt:lpstr>PowerPoint Presentation</vt:lpstr>
      <vt:lpstr>PowerPoint Presentation</vt:lpstr>
      <vt:lpstr>PowerPoint Presentation</vt:lpstr>
      <vt:lpstr>PowerPoint Presentation</vt:lpstr>
      <vt:lpstr>PowerPoint Presentation</vt:lpstr>
      <vt:lpstr>Tire Temps </vt:lpstr>
      <vt:lpstr>Optimum K Camber  Changes in Roll -2 to 2 2025 car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Spilker, Colin</dc:creator>
  <cp:lastModifiedBy>Spilker, Colin</cp:lastModifiedBy>
  <cp:revision>1</cp:revision>
  <dcterms:created xsi:type="dcterms:W3CDTF">2026-04-16T23:42:18Z</dcterms:created>
  <dcterms:modified xsi:type="dcterms:W3CDTF">2026-05-10T06:58:56Z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0x010100254A19F862AC26458C934780B3E0363A</vt:lpwstr>
  </property>
  <property fmtid="{D5CDD505-2E9C-101B-9397-08002B2CF9AE}" pid="3" name="MediaServiceImageTags">
    <vt:lpwstr/>
  </property>
</Properties>
</file>